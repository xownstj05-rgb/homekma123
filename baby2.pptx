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notesMaster" Target="notesMasters/notesMaster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긍정 훈육의 철학적 이해</a:t>
            </a:r>
          </a:p>
          <a:p>
            <a:pPr lvl="0" indent="0" marL="0">
              <a:buNone/>
            </a:pPr>
          </a:p>
          <a:p>
            <a:pPr lvl="0" indent="0" marL="0">
              <a:buNone/>
            </a:pPr>
            <a:r>
              <a:rPr/>
              <a:t>긍정 훈육은 단순히 아이를 통제하는 기술이 아니라, 아이를 하나의 인격체로 존중하는 철학에서 출발합니다. 훈육의 시작은 태어나는 순간부터이며, 이는 아이가 사회의 일원으로서 지켜야 할 도리와 규범을 가르치는 과정입니다. 특히 유엔아동권리협약의 정신을 이어받아 신체적 처벌 없이 아이의 자존감을 지켜주는 것이 중요합니다.</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따뜻함과 구조화의 조화</a:t>
            </a:r>
          </a:p>
          <a:p>
            <a:pPr lvl="0" indent="0" marL="0">
              <a:buNone/>
            </a:pPr>
          </a:p>
          <a:p>
            <a:pPr lvl="0" indent="0" marL="0">
              <a:buNone/>
            </a:pPr>
            <a:r>
              <a:rPr/>
              <a:t>긍정 훈육의 두 가지 핵심 도구는 따뜻함과 구조화입니다. 따뜻함은 아이가 배울 준비가 되도록 돕는 ’도움’의 영역이며, 구조화는 아이가 무엇을 어떻게 해야 하는지 알려주는 ’정보’의 영역입니다. 이 두 가지가 조화를 이룰 때 아이는 부모가 없을 때도 스스로 올바른 결정을 내릴 수 있는 능력을 갖추게 됩니다.</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훈육 시기에 대한 오해와 진실</a:t>
            </a:r>
          </a:p>
          <a:p>
            <a:pPr lvl="0" indent="0" marL="0">
              <a:buNone/>
            </a:pPr>
          </a:p>
          <a:p>
            <a:pPr lvl="0" indent="0" marL="0">
              <a:buNone/>
            </a:pPr>
            <a:r>
              <a:rPr/>
              <a:t>많은 부모님이 아이가 말을 알아듣지 못하면 훈육이 불가능하다고 생각합니다. 하지만 훈육의 본질은 ’가르침’이며, 이는 신생아 시기 카시트에 앉히는 것부터 시작됩니다. 24개월 이전에는 행동을 통한 길들이기가 주가 되고, 이후 언어 발달과 함께 상세한 이유를 설명해주는 방식으로 발전해 나가야 합니다.</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영아기 신뢰감 형성의 중요성</a:t>
            </a:r>
          </a:p>
          <a:p>
            <a:pPr lvl="0" indent="0" marL="0">
              <a:buNone/>
            </a:pPr>
          </a:p>
          <a:p>
            <a:pPr lvl="0" indent="0" marL="0">
              <a:buNone/>
            </a:pPr>
            <a:r>
              <a:rPr/>
              <a:t>에릭슨에 따르면 이 시기는 신뢰감 대 불신감이 형성되는 결정적 시기입니다. 아기의 신호에 따뜻하고 민감하게 반응해주는 것이 가장 큰 교육입니다. 훈육의 관점에서는 위험한 물건을 미리 제거하여 아이가 마음껏 탐색할 수 있는 ’안전한 구조’를 만들어주는 것이 중요합니다.</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6~12개월의 소통과 탐색</a:t>
            </a:r>
          </a:p>
          <a:p>
            <a:pPr lvl="0" indent="0" marL="0">
              <a:buNone/>
            </a:pPr>
          </a:p>
          <a:p>
            <a:pPr lvl="0" indent="0" marL="0">
              <a:buNone/>
            </a:pPr>
            <a:r>
              <a:rPr/>
              <a:t>이 시기 아이는 세상을 향한 탐색을 본격화합니다. 특히 ’대상 영속성’이 발달하면서 까꿍놀이에 열광하게 되죠. 언어적으로는 “안 돼”라는 말의 의미를 이해하기 시작하므로, 위험한 상황에서 짧고 단호하게 경계를 알려주는 기초적인 구조화 훈육을 시작할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자아의 탄생과 재접근기</a:t>
            </a:r>
          </a:p>
          <a:p>
            <a:pPr lvl="0" indent="0" marL="0">
              <a:buNone/>
            </a:pPr>
          </a:p>
          <a:p>
            <a:pPr lvl="0" indent="0" marL="0">
              <a:buNone/>
            </a:pPr>
            <a:r>
              <a:rPr/>
              <a:t>12개월에서 24개월 사이는 아이가 ’나’라는 존재를 깨닫는 시기입니다. 소위 ’미운 두 살’이라고 불리는 이 시기의 떼쓰기는 아이가 세상을 배우는 과정에서 겪는 혼란의 표현입니다. 부모는 아이의 감정을 충분히 읽어주면서도, 안 되는 것은 안 된다는 일관된 경계를 제공해야 합니다.</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본격적인 훈육의 시작</a:t>
            </a:r>
          </a:p>
          <a:p>
            <a:pPr lvl="0" indent="0" marL="0">
              <a:buNone/>
            </a:pPr>
          </a:p>
          <a:p>
            <a:pPr lvl="0" indent="0" marL="0">
              <a:buNone/>
            </a:pPr>
            <a:r>
              <a:rPr/>
              <a:t>24개월이 지나면 아이는 제법 복잡한 인과관계를 이해합니다. 이제는 “안 돼”라고만 하기보다 “이건 위험해서 하면 안 돼, 대신 이걸 해보자”라고 대안을 제시하는 것이 중요합니다. 또한 아이에게 선택권을 주어 주도성을 키워주는 긍정 훈육 기법을 적극적으로 활용할 시기입니다.</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돌 접종 가이드</a:t>
            </a:r>
          </a:p>
          <a:p>
            <a:pPr lvl="0" indent="0" marL="0">
              <a:buNone/>
            </a:pPr>
          </a:p>
          <a:p>
            <a:pPr lvl="0" indent="0" marL="0">
              <a:buNone/>
            </a:pPr>
            <a:r>
              <a:rPr/>
              <a:t>돌 시기는 예방접종이 가장 몰려 있는 시기 중 하나입니다. 한꺼번에 여러 대를 맞추는 것이 걱정되실 수 있지만, 하루에 2~3개씩 동시 접종하는 것이 가능하며 아이에게 큰 무리가 가지 않습니다. 제 날짜를 지키는 것이 좋지만, 아이 컨디션에 따라 수일 내외로 조정하셔도 괜찮습니다.</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접종 후 관리 포인트</a:t>
            </a:r>
          </a:p>
          <a:p>
            <a:pPr lvl="0" indent="0" marL="0">
              <a:buNone/>
            </a:pPr>
          </a:p>
          <a:p>
            <a:pPr lvl="0" indent="0" marL="0">
              <a:buNone/>
            </a:pPr>
            <a:r>
              <a:rPr/>
              <a:t>예방접종 후 가장 중요한 것은 발열 관리입니다. 접종 당일 밤에는 열이 날 수 있으니 해열제를 상비해 두세요. 특히 MMR 백신은 일주일 뒤에 열이 날 수 있다는 점을 꼭 기억하셔야 합니다. 또한 예방접종 기록은 아이가 성인이 된 후에도 필요하므로 꼼꼼히 기록하고 백업해 두는 습관이 필요합니다.</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돌 이후 영양 관리</a:t>
            </a:r>
          </a:p>
          <a:p>
            <a:pPr lvl="0" indent="0" marL="0">
              <a:buNone/>
            </a:pPr>
          </a:p>
          <a:p>
            <a:pPr lvl="0" indent="0" marL="0">
              <a:buNone/>
            </a:pPr>
            <a:r>
              <a:rPr/>
              <a:t>돌이 지나면 분유 비중이 줄고 일반식 비중이 늘어납니다. 이때 가장 중요한 것은 ’식재료 본연의 맛’을 익히는 것입니다. 영양제는 비타민 D와 유산균 정도로 최소화하고, 고기나 채소를 통해 철분과 비타민을 섭취하도록 유도하세요. 어릴 때 형성된 입맛은 아이의 평생 건강 자산이 됩니다.</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우유 적응 훈련</a:t>
            </a:r>
          </a:p>
          <a:p>
            <a:pPr lvl="0" indent="0" marL="0">
              <a:buNone/>
            </a:pPr>
          </a:p>
          <a:p>
            <a:pPr lvl="0" indent="0" marL="0">
              <a:buNone/>
            </a:pPr>
            <a:r>
              <a:rPr/>
              <a:t>생후 12개월은 영양 공급원이 액체(분유)에서 고체(밥)로 완전히 넘어가는 시기입니다. 우유는 밥의 보조 수단으로 활용되어야 하며, 하루 400~500ml 정도가 적당합니다. 젖병을 떼는 연습을 우유 전환과 함께하면 훨씬 효과적으로 젖병 습관을 졸업할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밥상머리 교육의 핵심</a:t>
            </a:r>
          </a:p>
          <a:p>
            <a:pPr lvl="0" indent="0" marL="0">
              <a:buNone/>
            </a:pPr>
          </a:p>
          <a:p>
            <a:pPr lvl="0" indent="0" marL="0">
              <a:buNone/>
            </a:pPr>
            <a:r>
              <a:rPr/>
              <a:t>식사 시간은 아이와 부모가 기싸움을 하는 시간이 아닙니다. 부모는 ‘언제, 어디서, 무엇을’ 먹을지 결정하고, 아이는 ‘얼마나’ 먹을지 결정하게 하세요. 따라다니며 먹이는 것은 당장 한 숟갈 더 먹일 수 있어도 장기적으로는 아이의 자조 능력을 망치는 지름길입니다.</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기질에 대한 올바른 태도</a:t>
            </a:r>
          </a:p>
          <a:p>
            <a:pPr lvl="0" indent="0" marL="0">
              <a:buNone/>
            </a:pPr>
          </a:p>
          <a:p>
            <a:pPr lvl="0" indent="0" marL="0">
              <a:buNone/>
            </a:pPr>
            <a:r>
              <a:rPr/>
              <a:t>기질에는 좋고 나쁨이 없습니다. 그저 ‘다를’ 뿐입니다. 우리 아이가 유독 까다롭거나 느리다면, 그것은 아이가 부모를 힘들게 하려고 고르는 전략이 아니라 타고난 뇌의 반응 양상입니다. 기질을 바꾸려 하기보다 아이의 기질에 맞는 양육 환경을 제공해주는 것이 긍정 훈육의 핵심입니다.</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기질의 조화 (Goodness of Fit)</a:t>
            </a:r>
          </a:p>
          <a:p>
            <a:pPr lvl="0" indent="0" marL="0">
              <a:buNone/>
            </a:pPr>
          </a:p>
          <a:p>
            <a:pPr lvl="0" indent="0" marL="0">
              <a:buNone/>
            </a:pPr>
            <a:r>
              <a:rPr/>
              <a:t>부모와 자녀의 기질이 잘 맞으면 육아가 수월하지만, 맞지 않으면 매 순간이 전쟁일 수 있습니다. 중요한 것은 부모가 먼저 변화하는 것입니다. 아이는 기질을 조절할 능력이 없지만, 부모는 성인으로서 환경을 바꿀 수 있습니다. 아이를 고치려 하지 말고 환경을 조절해보세요.</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떼쓰는 아이 대처법</a:t>
            </a:r>
          </a:p>
          <a:p>
            <a:pPr lvl="0" indent="0" marL="0">
              <a:buNone/>
            </a:pPr>
          </a:p>
          <a:p>
            <a:pPr lvl="0" indent="0" marL="0">
              <a:buNone/>
            </a:pPr>
            <a:r>
              <a:rPr/>
              <a:t>아이가 바닥에 드러누워 울 때, 부모는 주변의 시선 때문에 당황하기 쉽습니다. 하지만 이때가 아이에게 감정을 조절하는 법을 가르칠 수 있는 가장 소중한 순간입니다. 부모가 차분함을 유지할 때 아이도 감정을 진정시키는 법을 배웁니다. 아이의 감정은 수용하되, 행동의 한계는 명확히 하세요.</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영아기 놀잇감의 선택</a:t>
            </a:r>
          </a:p>
          <a:p>
            <a:pPr lvl="0" indent="0" marL="0">
              <a:buNone/>
            </a:pPr>
          </a:p>
          <a:p>
            <a:pPr lvl="0" indent="0" marL="0">
              <a:buNone/>
            </a:pPr>
            <a:r>
              <a:rPr/>
              <a:t>돌 이전 아이들에게 장난감은 세상을 배우는 교과서입니다. 비싸고 복잡한 것보다는 아이의 오감을 자극할 수 있는 단순한 것들이 더 좋습니다. 특히 공은 굴리고, 던지고, 잡는 과정을 통해 아이의 운동 능력과 인과관계 이해를 돕는 최고의 ’열린 장난감’입니다.</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유아기 놀이의 확장</a:t>
            </a:r>
          </a:p>
          <a:p>
            <a:pPr lvl="0" indent="0" marL="0">
              <a:buNone/>
            </a:pPr>
          </a:p>
          <a:p>
            <a:pPr lvl="0" indent="0" marL="0">
              <a:buNone/>
            </a:pPr>
            <a:r>
              <a:rPr/>
              <a:t>돌이 지나면 놀이의 영역이 집안 전체와 외부로 확장됩니다. 이 시기 아이들은 부모의 행동을 그대로 따라 하는 것을 즐기므로, 청소 도구나 주방 놀이 세트가 큰 인기를 끕니다. 놀이를 통해 아이는 규칙을 배우고, 실패를 극복하며, 성취감을 맛보는 소중한 훈육의 시간을 갖게 됩니다.</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집안 안전 점검</a:t>
            </a:r>
          </a:p>
          <a:p>
            <a:pPr lvl="0" indent="0" marL="0">
              <a:buNone/>
            </a:pPr>
          </a:p>
          <a:p>
            <a:pPr lvl="0" indent="0" marL="0">
              <a:buNone/>
            </a:pPr>
            <a:r>
              <a:rPr/>
              <a:t>“아차” 하는 순간 사고는 일어납니다. 특히 돌 전후로 걷기 시작하는 아이들은 호기심은 왕성하지만 위험을 인지하지 못합니다. 부모님이 무릎을 굽혀 아이의 시선으로 집안을 한번 둘러보세요. 아이 눈에 띄는 콘센트 구멍이나 테이블 모서리는 모두 위험한 무기가 될 수 있습니다.</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발달 지원 시스템 활용</a:t>
            </a:r>
          </a:p>
          <a:p>
            <a:pPr lvl="0" indent="0" marL="0">
              <a:buNone/>
            </a:pPr>
          </a:p>
          <a:p>
            <a:pPr lvl="0" indent="0" marL="0">
              <a:buNone/>
            </a:pPr>
            <a:r>
              <a:rPr/>
              <a:t>아이의 발달이 조금 느리다고 해서 부끄러워하거나 숨길 필요가 없습니다. 영유아기의 뇌는 가소성이 매우 높아서 조기에 개입할수록 효과가 놀랍도록 큽니다. 국가와 지자체에서 운영하는 다양한 바우처와 상담 시스템을 적극적으로 활용하여 아이의 골든타임을 놓치지 마세요.</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맺음말: 함께 성장하는 우리</a:t>
            </a:r>
          </a:p>
          <a:p>
            <a:pPr lvl="0" indent="0" marL="0">
              <a:buNone/>
            </a:pPr>
          </a:p>
          <a:p>
            <a:pPr lvl="0" indent="0" marL="0">
              <a:buNone/>
            </a:pPr>
            <a:r>
              <a:rPr/>
              <a:t>양육은 아이를 키우는 과정이기도 하지만, 부모가 한 인간으로서 성장하는 과정이기도 합니다. 오늘 배운 긍정 훈육의 원리들이 여러분의 육아 여정에 든든한 나침반이 되길 바랍니다. 실수를 두려워하지 마세요. 그 실수는 더 나은 부모가 되기 위한 소중한 거름이 될 것입니다.</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0.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긍정 훈육의 기초와 철학적 배경</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아이의 인권을 존중하는 비폭력 양육의 시작</a:t>
            </a:r>
          </a:p>
        </p:txBody>
      </p:sp>
      <p:sp>
        <p:nvSpPr>
          <p:cNvPr id="4" name="Text Placeholder 3"/>
          <p:cNvSpPr>
            <a:spLocks noGrp="1"/>
          </p:cNvSpPr>
          <p:nvPr>
            <p:ph idx="2" sz="half" type="body"/>
          </p:nvPr>
        </p:nvSpPr>
        <p:spPr/>
        <p:txBody>
          <a:bodyPr/>
          <a:lstStyle/>
          <a:p>
            <a:pPr lvl="0"/>
            <a:r>
              <a:rPr/>
              <a:t>훈육은 아이가 말을 알아듣기 시작하는 시기가 아니라 태어나는 순간부터 시작되어 평생 지속되는 삶의 규칙 학습 과정임</a:t>
            </a:r>
          </a:p>
          <a:p>
            <a:pPr lvl="0"/>
            <a:r>
              <a:rPr/>
              <a:t>부모가 권위를 가지고 가정 내 위계질서와 규칙을 확립하여 아이가 지켜야 할 한계를 명확히 설정하고 일관되게 적용하는 구조화 과정임</a:t>
            </a:r>
          </a:p>
          <a:p>
            <a:pPr lvl="0"/>
            <a:r>
              <a:rPr/>
              <a:t>단순한 체벌이나 강압적 통제를 넘어 아이 스스로 바른 행동을 습관화하여 인생을 살아가는 룰을 체득하게 돕는 장기적인 교육적 지향임,</a:t>
            </a:r>
          </a:p>
          <a:p>
            <a:pPr lvl="0"/>
            <a:r>
              <a:rPr/>
              <a:t>유엔아동권리협약에 기반하여 아동을 독립된 인격체로 존중하고 폭력 없이 건강한 발달과 생존권을 보장하는 비폭력 양육 접근법의 실천임,,</a:t>
            </a:r>
          </a:p>
          <a:p>
            <a:pPr lvl="0"/>
            <a:r>
              <a:rPr/>
              <a:t>부모의 확신과 신뢰를 바탕으로 아이가 부모의 말을 들어야 한다는 믿음을 갖게 함과 동시에 교양 있는 배려를 조화시켜 훈육 환경을 조성함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구분</a:t>
                      </a:r>
                    </a:p>
                  </a:txBody>
                  <a:tcPr/>
                </a:tc>
                <a:tc>
                  <a:txBody>
                    <a:bodyPr/>
                    <a:lstStyle/>
                    <a:p>
                      <a:pPr lvl="0" indent="0" marL="0" algn="l">
                        <a:buNone/>
                      </a:pPr>
                      <a:r>
                        <a:rPr/>
                        <a:t>긍정 훈육의 핵심 요소</a:t>
                      </a:r>
                    </a:p>
                  </a:txBody>
                  <a:tcPr/>
                </a:tc>
                <a:tc>
                  <a:txBody>
                    <a:bodyPr/>
                    <a:lstStyle/>
                    <a:p>
                      <a:pPr lvl="0" indent="0" marL="0" algn="l">
                        <a:buNone/>
                      </a:pPr>
                      <a:r>
                        <a:rPr/>
                        <a:t>비고</a:t>
                      </a:r>
                    </a:p>
                  </a:txBody>
                  <a:tcPr/>
                </a:tc>
              </a:tr>
              <a:tr h="0">
                <a:tc>
                  <a:txBody>
                    <a:bodyPr/>
                    <a:lstStyle/>
                    <a:p>
                      <a:pPr lvl="0" indent="0" marL="0" algn="l">
                        <a:buNone/>
                      </a:pPr>
                      <a:r>
                        <a:rPr b="1"/>
                        <a:t>목적</a:t>
                      </a:r>
                    </a:p>
                  </a:txBody>
                </a:tc>
                <a:tc>
                  <a:txBody>
                    <a:bodyPr/>
                    <a:lstStyle/>
                    <a:p>
                      <a:pPr lvl="0" indent="0" marL="0" algn="l">
                        <a:buNone/>
                      </a:pPr>
                      <a:r>
                        <a:rPr/>
                        <a:t>자제력 및 평생 기술 습득</a:t>
                      </a:r>
                    </a:p>
                  </a:txBody>
                </a:tc>
                <a:tc>
                  <a:txBody>
                    <a:bodyPr/>
                    <a:lstStyle/>
                    <a:p>
                      <a:pPr lvl="0" indent="0" marL="0" algn="l">
                        <a:buNone/>
                      </a:pPr>
                      <a:r>
                        <a:rPr/>
                        <a:t>장기적 해결책</a:t>
                      </a:r>
                    </a:p>
                  </a:txBody>
                </a:tc>
              </a:tr>
              <a:tr h="0">
                <a:tc>
                  <a:txBody>
                    <a:bodyPr/>
                    <a:lstStyle/>
                    <a:p>
                      <a:pPr lvl="0" indent="0" marL="0" algn="l">
                        <a:buNone/>
                      </a:pPr>
                      <a:r>
                        <a:rPr b="1"/>
                        <a:t>태도</a:t>
                      </a:r>
                    </a:p>
                  </a:txBody>
                </a:tc>
                <a:tc>
                  <a:txBody>
                    <a:bodyPr/>
                    <a:lstStyle/>
                    <a:p>
                      <a:pPr lvl="0" indent="0" marL="0" algn="l">
                        <a:buNone/>
                      </a:pPr>
                      <a:r>
                        <a:rPr/>
                        <a:t>따뜻함과 구조화의 조화</a:t>
                      </a:r>
                    </a:p>
                  </a:txBody>
                </a:tc>
                <a:tc>
                  <a:txBody>
                    <a:bodyPr/>
                    <a:lstStyle/>
                    <a:p>
                      <a:pPr lvl="0" indent="0" marL="0" algn="l">
                        <a:buNone/>
                      </a:pPr>
                      <a:r>
                        <a:rPr/>
                        <a:t>상호 존중</a:t>
                      </a:r>
                    </a:p>
                  </a:txBody>
                </a:tc>
              </a:tr>
              <a:tr h="0">
                <a:tc>
                  <a:txBody>
                    <a:bodyPr/>
                    <a:lstStyle/>
                    <a:p>
                      <a:pPr lvl="0" indent="0" marL="0" algn="l">
                        <a:buNone/>
                      </a:pPr>
                      <a:r>
                        <a:rPr b="1"/>
                        <a:t>수단</a:t>
                      </a:r>
                    </a:p>
                  </a:txBody>
                </a:tc>
                <a:tc>
                  <a:txBody>
                    <a:bodyPr/>
                    <a:lstStyle/>
                    <a:p>
                      <a:pPr lvl="0" indent="0" marL="0" algn="l">
                        <a:buNone/>
                      </a:pPr>
                      <a:r>
                        <a:rPr/>
                        <a:t>명확한 의사소통과 정보 제공</a:t>
                      </a:r>
                    </a:p>
                  </a:txBody>
                </a:tc>
                <a:tc>
                  <a:txBody>
                    <a:bodyPr/>
                    <a:lstStyle/>
                    <a:p>
                      <a:pPr lvl="0" indent="0" marL="0" algn="l">
                        <a:buNone/>
                      </a:pPr>
                      <a:r>
                        <a:rPr/>
                        <a:t>비폭력 지향</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훈육의 핵심 기둥</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따뜻함과 구조화의 상호작용 원리</a:t>
            </a:r>
          </a:p>
        </p:txBody>
      </p:sp>
      <p:sp>
        <p:nvSpPr>
          <p:cNvPr id="3" name="Content Placeholder 2"/>
          <p:cNvSpPr>
            <a:spLocks noGrp="1"/>
          </p:cNvSpPr>
          <p:nvPr>
            <p:ph idx="1"/>
          </p:nvPr>
        </p:nvSpPr>
        <p:spPr/>
        <p:txBody>
          <a:bodyPr/>
          <a:lstStyle/>
          <a:p>
            <a:pPr lvl="0"/>
            <a:r>
              <a:rPr/>
              <a:t>따뜻함은 아이에게 정서적 안도감을 제공하는 무조건적인 사랑의 표현이며 아이가 부모를 기쁘게 하고 싶어 하는 마음을 갖게 하는 필수 요소임,</a:t>
            </a:r>
          </a:p>
          <a:p>
            <a:pPr lvl="0"/>
            <a:r>
              <a:rPr/>
              <a:t>아이의 발달 단계에 대한 깊은 이해를 바탕으로 아이의 요구에 세심하게 관심을 갖고 감정에 공감하며 눈높이를 맞추는 존중의 태도임,</a:t>
            </a:r>
          </a:p>
          <a:p>
            <a:pPr lvl="0"/>
            <a:r>
              <a:rPr/>
              <a:t>구조화는 아이에게 명확한 가이드라인과 기대치를 전달하여 아이 스스로 문제를 해결하고 실수를 바로잡을 수 있는 정보를 제공하는 과정임,</a:t>
            </a:r>
          </a:p>
          <a:p>
            <a:pPr lvl="0"/>
            <a:r>
              <a:rPr/>
              <a:t>구조화를 통해 아이는 다른 사람과 의견이 다를 때 생산적이고 비폭력적인 방법으로 갈등을 해결하는 구체적인 도구를 학습하게 됨,</a:t>
            </a:r>
          </a:p>
          <a:p>
            <a:pPr lvl="0"/>
            <a:r>
              <a:rPr/>
              <a:t>실수를 배움의 기회로 전환하여 부모가 긍정적이고 모범적인 안내자가 되어줌으로써 아이의 자주적인 생각과 발달을 지속적으로 격려하고 지지함,</a:t>
            </a:r>
          </a:p>
          <a:p>
            <a:pPr lvl="0" indent="0" marL="0">
              <a:buNone/>
            </a:pPr>
            <a:r>
              <a:rPr b="1"/>
              <a:t>[긍정 훈육의 구성 요소 시각화]</a:t>
            </a:r>
            <a:r>
              <a:rPr/>
              <a:t> [따뜻함(도움)] &lt;———-&gt; [구조화(정보)] ↓ ↓ (정서적 안정감 제공) (행동 지침 및 정보 제공) ╚═════════════╦═════════════╝ [긍정 훈육의 완성]</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훈육 시작 시기의 재정립</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신생아기부터 시작되는 생활 습관 교육</a:t>
            </a:r>
          </a:p>
        </p:txBody>
      </p:sp>
      <p:sp>
        <p:nvSpPr>
          <p:cNvPr id="4" name="Text Placeholder 3"/>
          <p:cNvSpPr>
            <a:spLocks noGrp="1"/>
          </p:cNvSpPr>
          <p:nvPr>
            <p:ph idx="2" sz="half" type="body"/>
          </p:nvPr>
        </p:nvSpPr>
        <p:spPr/>
        <p:txBody>
          <a:bodyPr/>
          <a:lstStyle/>
          <a:p>
            <a:pPr lvl="0"/>
            <a:r>
              <a:rPr/>
              <a:t>일부 전문가들이 주장하는 두 돌 혹은 세 돌 이전 훈육 무용론은 근거가 부족하며 훈육은 아주 사소한 일상의 틀부터 즉시 시작되어야 함</a:t>
            </a:r>
          </a:p>
          <a:p>
            <a:pPr lvl="0"/>
            <a:r>
              <a:rPr/>
              <a:t>세 살 버릇 여든까지 간다는 속담처럼 만 2세 이전에 가정 내 훈육의 기본 틀이 완성되어야 이후 언어적 훈육의 효과가 극대화됨</a:t>
            </a:r>
          </a:p>
          <a:p>
            <a:pPr lvl="0"/>
            <a:r>
              <a:rPr/>
              <a:t>카시트 사용이나 식사 자리 지키기처럼 안전과 직결된 사소한 규칙을 반복하여 아이가 가정의 틀 안에서 길들여지게 만드는 과정이 필수적임</a:t>
            </a:r>
          </a:p>
          <a:p>
            <a:pPr lvl="0"/>
            <a:r>
              <a:rPr/>
              <a:t>24개월 이전 아이의 울음은 생존을 위한 불편함의 표현이므로 즉각적인 반응으로 신뢰감을 형성하되 위험한 행동에는 단호한 제지가 병행되어야 함,</a:t>
            </a:r>
          </a:p>
          <a:p>
            <a:pPr lvl="0"/>
            <a:r>
              <a:rPr/>
              <a:t>언어 발달이 이루어지는 시기부터는 기존의 생활 습관 틀 위에 언어적 설명을 추가하여 규칙의 인과관계를 세세하게 가르치는 단계적 접근이 요구됨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전문가 견해</a:t>
                      </a:r>
                    </a:p>
                  </a:txBody>
                  <a:tcPr/>
                </a:tc>
                <a:tc>
                  <a:txBody>
                    <a:bodyPr/>
                    <a:lstStyle/>
                    <a:p>
                      <a:pPr lvl="0" indent="0" marL="0" algn="l">
                        <a:buNone/>
                      </a:pPr>
                      <a:r>
                        <a:rPr/>
                        <a:t>훈육 시작 추천 시기</a:t>
                      </a:r>
                    </a:p>
                  </a:txBody>
                  <a:tcPr/>
                </a:tc>
                <a:tc>
                  <a:txBody>
                    <a:bodyPr/>
                    <a:lstStyle/>
                    <a:p>
                      <a:pPr lvl="0" indent="0" marL="0" algn="l">
                        <a:buNone/>
                      </a:pPr>
                      <a:r>
                        <a:rPr/>
                        <a:t>주요 논거</a:t>
                      </a:r>
                    </a:p>
                  </a:txBody>
                  <a:tcPr/>
                </a:tc>
              </a:tr>
              <a:tr h="0">
                <a:tc>
                  <a:txBody>
                    <a:bodyPr/>
                    <a:lstStyle/>
                    <a:p>
                      <a:pPr lvl="0" indent="0" marL="0" algn="l">
                        <a:buNone/>
                      </a:pPr>
                      <a:r>
                        <a:rPr b="1"/>
                        <a:t>하정훈 전문의</a:t>
                      </a:r>
                    </a:p>
                  </a:txBody>
                </a:tc>
                <a:tc>
                  <a:txBody>
                    <a:bodyPr/>
                    <a:lstStyle/>
                    <a:p>
                      <a:pPr lvl="0" indent="0" marL="0" algn="l">
                        <a:buNone/>
                      </a:pPr>
                      <a:r>
                        <a:rPr/>
                        <a:t>태어나는 순간부터</a:t>
                      </a:r>
                    </a:p>
                  </a:txBody>
                </a:tc>
                <a:tc>
                  <a:txBody>
                    <a:bodyPr/>
                    <a:lstStyle/>
                    <a:p>
                      <a:pPr lvl="0" indent="0" marL="0" algn="l">
                        <a:buNone/>
                      </a:pPr>
                      <a:r>
                        <a:rPr/>
                        <a:t>생활 습관과 가정의 틀 확립</a:t>
                      </a:r>
                    </a:p>
                  </a:txBody>
                </a:tc>
              </a:tr>
              <a:tr h="0">
                <a:tc>
                  <a:txBody>
                    <a:bodyPr/>
                    <a:lstStyle/>
                    <a:p>
                      <a:pPr lvl="0" indent="0" marL="0" algn="l">
                        <a:buNone/>
                      </a:pPr>
                      <a:r>
                        <a:rPr b="1"/>
                        <a:t>오은영 박사</a:t>
                      </a:r>
                    </a:p>
                  </a:txBody>
                </a:tc>
                <a:tc>
                  <a:txBody>
                    <a:bodyPr/>
                    <a:lstStyle/>
                    <a:p>
                      <a:pPr lvl="0" indent="0" marL="0" algn="l">
                        <a:buNone/>
                      </a:pPr>
                      <a:r>
                        <a:rPr/>
                        <a:t>36개월부터 본격화</a:t>
                      </a:r>
                    </a:p>
                  </a:txBody>
                </a:tc>
                <a:tc>
                  <a:txBody>
                    <a:bodyPr/>
                    <a:lstStyle/>
                    <a:p>
                      <a:pPr lvl="0" indent="0" marL="0" algn="l">
                        <a:buNone/>
                      </a:pPr>
                      <a:r>
                        <a:rPr/>
                        <a:t>언어 발달 및 인과관계 이해</a:t>
                      </a:r>
                    </a:p>
                  </a:txBody>
                </a:tc>
              </a:tr>
              <a:tr h="0">
                <a:tc>
                  <a:txBody>
                    <a:bodyPr/>
                    <a:lstStyle/>
                    <a:p>
                      <a:pPr lvl="0" indent="0" marL="0" algn="l">
                        <a:buNone/>
                      </a:pPr>
                      <a:r>
                        <a:rPr b="1"/>
                        <a:t>이민주 소아과</a:t>
                      </a:r>
                    </a:p>
                  </a:txBody>
                </a:tc>
                <a:tc>
                  <a:txBody>
                    <a:bodyPr/>
                    <a:lstStyle/>
                    <a:p>
                      <a:pPr lvl="0" indent="0" marL="0" algn="l">
                        <a:buNone/>
                      </a:pPr>
                      <a:r>
                        <a:rPr/>
                        <a:t>태어나면서부터</a:t>
                      </a:r>
                    </a:p>
                  </a:txBody>
                </a:tc>
                <a:tc>
                  <a:txBody>
                    <a:bodyPr/>
                    <a:lstStyle/>
                    <a:p>
                      <a:pPr lvl="0" indent="0" marL="0" algn="l">
                        <a:buNone/>
                      </a:pPr>
                      <a:r>
                        <a:rPr/>
                        <a:t>사회적 규범 및 도리 학습</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0~6개월 발달과 신뢰 형성</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세상에 대한 기초적인 안정감 획득</a:t>
            </a:r>
          </a:p>
        </p:txBody>
      </p:sp>
      <p:sp>
        <p:nvSpPr>
          <p:cNvPr id="3" name="Content Placeholder 2"/>
          <p:cNvSpPr>
            <a:spLocks noGrp="1"/>
          </p:cNvSpPr>
          <p:nvPr>
            <p:ph idx="1"/>
          </p:nvPr>
        </p:nvSpPr>
        <p:spPr/>
        <p:txBody>
          <a:bodyPr/>
          <a:lstStyle/>
          <a:p>
            <a:pPr lvl="0"/>
            <a:r>
              <a:rPr/>
              <a:t>갓 태어난 아기에게 세상은 낯설고 무서운 곳이므로 신체적 접촉과 즉각적인 반응을 통해 안전하다는 확신을 주는 것이 최우선 과제임,</a:t>
            </a:r>
          </a:p>
          <a:p>
            <a:pPr lvl="0"/>
            <a:r>
              <a:rPr/>
              <a:t>아기의 울음은 의도적인 반항이나 부모를 괴롭히려는 행동이 아니며 자신의 욕구를 표현하는 유일한 소통 수단이므로 세심한 경청이 필요함,</a:t>
            </a:r>
          </a:p>
          <a:p>
            <a:pPr lvl="0"/>
            <a:r>
              <a:rPr/>
              <a:t>아기를 안아주고 반응해주는 행위는 뇌세포 연결을 촉진하는 필수 영양소와 같으며 향후 새로운 배움에 도전할 정서적 기초가 됨,</a:t>
            </a:r>
          </a:p>
          <a:p>
            <a:pPr lvl="0"/>
            <a:r>
              <a:rPr/>
              <a:t>입으로 물건을 가져가 씹는 행위는 구강 근육 발달과 주변 탐색을 위한 본능적 행동이므로 위험한 물건을 치우는 환경 조성이 최선의 훈육임</a:t>
            </a:r>
          </a:p>
          <a:p>
            <a:pPr lvl="0"/>
            <a:r>
              <a:rPr/>
              <a:t>이 시기에는 복잡한 규칙이나 설명보다 배고픔과 기저귀의 불편함을 해결해주어 주양육자와의 강한 애착 관계를 형성하는 데 집중해야 함,</a:t>
            </a:r>
          </a:p>
          <a:p>
            <a:pPr lvl="0" indent="0" marL="0">
              <a:buNone/>
            </a:pPr>
            <a:r>
              <a:rPr b="1"/>
              <a:t>[0~6개월 발달 체크리스트]</a:t>
            </a:r>
            <a:r>
              <a:rPr/>
              <a:t> - 사회성: 사람을 보고 미소 짓기, 주양육자 응시 - 언어: 초기 옹알이 시작, 소리 나는 쪽으로 고개 돌리기 - 인지: 눈으로 사물 따라가기, 얼굴에 관심 갖기 - 운동: 엎드렸을 때 머리 들어 올리기, 팔다리 움직임</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6~12개월 소통의 심화</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대상 영속성과 초기 의사소통의 발달</a:t>
            </a:r>
          </a:p>
        </p:txBody>
      </p:sp>
      <p:sp>
        <p:nvSpPr>
          <p:cNvPr id="4" name="Text Placeholder 3"/>
          <p:cNvSpPr>
            <a:spLocks noGrp="1"/>
          </p:cNvSpPr>
          <p:nvPr>
            <p:ph idx="2" sz="half" type="body"/>
          </p:nvPr>
        </p:nvSpPr>
        <p:spPr/>
        <p:txBody>
          <a:bodyPr/>
          <a:lstStyle/>
          <a:p>
            <a:pPr lvl="0"/>
            <a:r>
              <a:rPr/>
              <a:t>주양육자가 눈앞에서 사라져도 다시 돌아온다는 것을 완전히 이해하지 못하므로 지속적인 상호작용을 통해 부모에 대한 신뢰를 강화해야 함</a:t>
            </a:r>
          </a:p>
          <a:p>
            <a:pPr lvl="0"/>
            <a:r>
              <a:rPr/>
              <a:t>옹알이에 적극적으로 반응하고 답해줌으로써 소리 내기가 소통의 수단임을 인지하게 하고 첫 단어로 발전할 수 있는 언어적 자극을 제공함,</a:t>
            </a:r>
          </a:p>
          <a:p>
            <a:pPr lvl="0"/>
            <a:r>
              <a:rPr/>
              <a:t>사물이 가려져도 사라지지 않는다는 개념을 익히기 위해 까꿍놀이나 물건 숨기기 놀이를 반복하며 인지적 성장을 체계적으로 지원함</a:t>
            </a:r>
          </a:p>
          <a:p>
            <a:pPr lvl="0"/>
            <a:r>
              <a:rPr/>
              <a:t>앉기, 기기, 잡고 서기 등 대근육 발달이 활발해지는 시기이므로 아이가 스스로 움직여 주변을 탐험할 수 있는 안전한 공간 확보가 필수적임</a:t>
            </a:r>
          </a:p>
          <a:p>
            <a:pPr lvl="0"/>
            <a:r>
              <a:rPr/>
              <a:t>엄지와 검지를 사용해 작은 조각을 잡는 등 소근육이 정교해지는 과정을 격려하고 다양한 촉감 장난감을 활용해 감각 발달을 촉진함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발달 영역</a:t>
                      </a:r>
                    </a:p>
                  </a:txBody>
                  <a:tcPr/>
                </a:tc>
                <a:tc>
                  <a:txBody>
                    <a:bodyPr/>
                    <a:lstStyle/>
                    <a:p>
                      <a:pPr lvl="0" indent="0" marL="0" algn="l">
                        <a:buNone/>
                      </a:pPr>
                      <a:r>
                        <a:rPr/>
                        <a:t>주요 지표 (9개월 기준)</a:t>
                      </a:r>
                    </a:p>
                  </a:txBody>
                  <a:tcPr/>
                </a:tc>
                <a:tc>
                  <a:txBody>
                    <a:bodyPr/>
                    <a:lstStyle/>
                    <a:p>
                      <a:pPr lvl="0" indent="0" marL="0" algn="l">
                        <a:buNone/>
                      </a:pPr>
                      <a:r>
                        <a:rPr/>
                        <a:t>부모의 역할</a:t>
                      </a:r>
                    </a:p>
                  </a:txBody>
                  <a:tcPr/>
                </a:tc>
              </a:tr>
              <a:tr h="0">
                <a:tc>
                  <a:txBody>
                    <a:bodyPr/>
                    <a:lstStyle/>
                    <a:p>
                      <a:pPr lvl="0" indent="0" marL="0" algn="l">
                        <a:buNone/>
                      </a:pPr>
                      <a:r>
                        <a:rPr b="1"/>
                        <a:t>언어</a:t>
                      </a:r>
                    </a:p>
                  </a:txBody>
                </a:tc>
                <a:tc>
                  <a:txBody>
                    <a:bodyPr/>
                    <a:lstStyle/>
                    <a:p>
                      <a:pPr lvl="0" indent="0" marL="0" algn="l">
                        <a:buNone/>
                      </a:pPr>
                      <a:r>
                        <a:rPr/>
                        <a:t>“안 돼” 이해, 자음 소리</a:t>
                      </a:r>
                    </a:p>
                  </a:txBody>
                </a:tc>
                <a:tc>
                  <a:txBody>
                    <a:bodyPr/>
                    <a:lstStyle/>
                    <a:p>
                      <a:pPr lvl="0" indent="0" marL="0" algn="l">
                        <a:buNone/>
                      </a:pPr>
                      <a:r>
                        <a:rPr/>
                        <a:t>소리 따라 하기 및 단어 확장</a:t>
                      </a:r>
                    </a:p>
                  </a:txBody>
                </a:tc>
              </a:tr>
              <a:tr h="0">
                <a:tc>
                  <a:txBody>
                    <a:bodyPr/>
                    <a:lstStyle/>
                    <a:p>
                      <a:pPr lvl="0" indent="0" marL="0" algn="l">
                        <a:buNone/>
                      </a:pPr>
                      <a:r>
                        <a:rPr b="1"/>
                        <a:t>인지</a:t>
                      </a:r>
                    </a:p>
                  </a:txBody>
                </a:tc>
                <a:tc>
                  <a:txBody>
                    <a:bodyPr/>
                    <a:lstStyle/>
                    <a:p>
                      <a:pPr lvl="0" indent="0" marL="0" algn="l">
                        <a:buNone/>
                      </a:pPr>
                      <a:r>
                        <a:rPr/>
                        <a:t>숨긴 물건 찾기, 낙하 물체 추적</a:t>
                      </a:r>
                    </a:p>
                  </a:txBody>
                </a:tc>
                <a:tc>
                  <a:txBody>
                    <a:bodyPr/>
                    <a:lstStyle/>
                    <a:p>
                      <a:pPr lvl="0" indent="0" marL="0" algn="l">
                        <a:buNone/>
                      </a:pPr>
                      <a:r>
                        <a:rPr/>
                        <a:t>인과관계 설명 및 놀이 지원</a:t>
                      </a:r>
                    </a:p>
                  </a:txBody>
                </a:tc>
              </a:tr>
              <a:tr h="0">
                <a:tc>
                  <a:txBody>
                    <a:bodyPr/>
                    <a:lstStyle/>
                    <a:p>
                      <a:pPr lvl="0" indent="0" marL="0" algn="l">
                        <a:buNone/>
                      </a:pPr>
                      <a:r>
                        <a:rPr b="1"/>
                        <a:t>정서</a:t>
                      </a:r>
                    </a:p>
                  </a:txBody>
                </a:tc>
                <a:tc>
                  <a:txBody>
                    <a:bodyPr/>
                    <a:lstStyle/>
                    <a:p>
                      <a:pPr lvl="0" indent="0" marL="0" algn="l">
                        <a:buNone/>
                      </a:pPr>
                      <a:r>
                        <a:rPr/>
                        <a:t>낯가림 시작, 애착물 형성</a:t>
                      </a:r>
                    </a:p>
                  </a:txBody>
                </a:tc>
                <a:tc>
                  <a:txBody>
                    <a:bodyPr/>
                    <a:lstStyle/>
                    <a:p>
                      <a:pPr lvl="0" indent="0" marL="0" algn="l">
                        <a:buNone/>
                      </a:pPr>
                      <a:r>
                        <a:rPr/>
                        <a:t>안정감 제공 및 규칙적 일과</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12~24개월 자아 형성과 탐색</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독립심의 성장과 재접근기 갈등 대처</a:t>
            </a:r>
          </a:p>
        </p:txBody>
      </p:sp>
      <p:sp>
        <p:nvSpPr>
          <p:cNvPr id="3" name="Content Placeholder 2"/>
          <p:cNvSpPr>
            <a:spLocks noGrp="1"/>
          </p:cNvSpPr>
          <p:nvPr>
            <p:ph idx="1"/>
          </p:nvPr>
        </p:nvSpPr>
        <p:spPr/>
        <p:txBody>
          <a:bodyPr/>
          <a:lstStyle/>
          <a:p>
            <a:pPr lvl="0"/>
            <a:r>
              <a:rPr/>
              <a:t>혼자 걷게 되면서 활동 범위가 비약적으로 넓어지고 사물을 떨어뜨리거나 맛보는 실험을 통해 세상의 물리적 원리를 배우는 탐험가적 기질을 보임,</a:t>
            </a:r>
          </a:p>
          <a:p>
            <a:pPr lvl="0"/>
            <a:r>
              <a:rPr/>
              <a:t>자아가 형성되면서 자기주장이 강해지고 “싫어”라는 표현이 늘어나는데 이는 반항이 아닌 자신의 기분을 표현하려는 지극히 정상적인 발달임</a:t>
            </a:r>
          </a:p>
          <a:p>
            <a:pPr lvl="0"/>
            <a:r>
              <a:rPr/>
              <a:t>언어 이해력은 높으나 표현력이 미숙하여 발생하는 좌절감으로 인해 떼를 쓸 수 있으므로 감정 라벨링을 통해 올바른 표현법을 반복 교육함,</a:t>
            </a:r>
          </a:p>
          <a:p>
            <a:pPr lvl="0"/>
            <a:r>
              <a:rPr/>
              <a:t>독립심과 매달림이 공존하는 ’재접근기’의 불안정한 감정 상태를 수용하고 충분히 안아주어 아이가 정신적 독립을 준비할 수 있게 도움,</a:t>
            </a:r>
          </a:p>
          <a:p>
            <a:pPr lvl="0"/>
            <a:r>
              <a:rPr/>
              <a:t>위험하거나 공격적인 행동에는 즉각 제동을 걸되 상황에 따라 반응이 달라지지 않도록 모든 양육자가 일관된 원칙으로 단호하게 대처함,</a:t>
            </a:r>
          </a:p>
          <a:p>
            <a:pPr lvl="0" indent="0" marL="0">
              <a:buNone/>
            </a:pPr>
            <a:r>
              <a:rPr b="1"/>
              <a:t>[재접근기 아이의 심리 상태]</a:t>
            </a:r>
            <a:r>
              <a:rPr/>
              <a:t> [나 혼자 할래! (독립 욕구)] ↔ [엄마가 필요해! (애착 욕구)] ↕ ↕ (성공 시 자신감 획득) (실패 시 위로와 사랑 필요) ╚══════════════╦══════════════╝ [안정된 자아 형성]</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24~36개월 상상력과 사회화</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언어적 소통을 통한 본격적 훈육 단계</a:t>
            </a:r>
          </a:p>
        </p:txBody>
      </p:sp>
      <p:sp>
        <p:nvSpPr>
          <p:cNvPr id="4" name="Text Placeholder 3"/>
          <p:cNvSpPr>
            <a:spLocks noGrp="1"/>
          </p:cNvSpPr>
          <p:nvPr>
            <p:ph idx="2" sz="half" type="body"/>
          </p:nvPr>
        </p:nvSpPr>
        <p:spPr/>
        <p:txBody>
          <a:bodyPr/>
          <a:lstStyle/>
          <a:p>
            <a:pPr lvl="0"/>
            <a:r>
              <a:rPr/>
              <a:t>상상력이 풍부해지며 가상놀이를 즐기지만 현실과 구분이 어려워 어둠이나 괴물에 대한 두려움이 나타날 수 있으므로 부모의 정서적 지지가 필요함,</a:t>
            </a:r>
          </a:p>
          <a:p>
            <a:pPr lvl="0"/>
            <a:r>
              <a:rPr/>
              <a:t>2~3단계의 연속적인 지시 수행이 가능해지며 자신의 감정을 단어로 표현하기 시작하므로 인과관계에 기반한 자세한 설명과 훈육이 효과적임,</a:t>
            </a:r>
          </a:p>
          <a:p>
            <a:pPr lvl="0"/>
            <a:r>
              <a:rPr/>
              <a:t>또래와 어울려 노는 연합 놀이가 시작되며 차례 지키기와 물건 공유 등 기본적인 사회적 규칙을 익히고 타인의 권리를 존중하는 법을 배움,</a:t>
            </a:r>
          </a:p>
          <a:p>
            <a:pPr lvl="0"/>
            <a:r>
              <a:rPr/>
              <a:t>연필로 동그라미를 그리거나 가위질을 하는 등 소근육 조작이 세밀해지며 스스로 옷을 입고 벗는 등 자조 능력을 키우도록 격려하고 지지함</a:t>
            </a:r>
          </a:p>
          <a:p>
            <a:pPr lvl="0"/>
            <a:r>
              <a:rPr/>
              <a:t>공격적인 행동에는 낮은 목소리로 단호하게 짧게 제지하고 상황이 진정된 후 감정을 공감하며 올바른 대안 행동을 구체적으로 알려줌,</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발달 영역</a:t>
                      </a:r>
                    </a:p>
                  </a:txBody>
                  <a:tcPr/>
                </a:tc>
                <a:tc>
                  <a:txBody>
                    <a:bodyPr/>
                    <a:lstStyle/>
                    <a:p>
                      <a:pPr lvl="0" indent="0" marL="0" algn="l">
                        <a:buNone/>
                      </a:pPr>
                      <a:r>
                        <a:rPr/>
                        <a:t>주요 성취 (24개월 이상)</a:t>
                      </a:r>
                    </a:p>
                  </a:txBody>
                  <a:tcPr/>
                </a:tc>
                <a:tc>
                  <a:txBody>
                    <a:bodyPr/>
                    <a:lstStyle/>
                    <a:p>
                      <a:pPr lvl="0" indent="0" marL="0" algn="l">
                        <a:buNone/>
                      </a:pPr>
                      <a:r>
                        <a:rPr/>
                        <a:t>훈육 및 교육 전략</a:t>
                      </a:r>
                    </a:p>
                  </a:txBody>
                  <a:tcPr/>
                </a:tc>
              </a:tr>
              <a:tr h="0">
                <a:tc>
                  <a:txBody>
                    <a:bodyPr/>
                    <a:lstStyle/>
                    <a:p>
                      <a:pPr lvl="0" indent="0" marL="0" algn="l">
                        <a:buNone/>
                      </a:pPr>
                      <a:r>
                        <a:rPr b="1"/>
                        <a:t>언어</a:t>
                      </a:r>
                    </a:p>
                  </a:txBody>
                </a:tc>
                <a:tc>
                  <a:txBody>
                    <a:bodyPr/>
                    <a:lstStyle/>
                    <a:p>
                      <a:pPr lvl="0" indent="0" marL="0" algn="l">
                        <a:buNone/>
                      </a:pPr>
                      <a:r>
                        <a:rPr/>
                        <a:t>2~4개 단어 문장 사용</a:t>
                      </a:r>
                    </a:p>
                  </a:txBody>
                </a:tc>
                <a:tc>
                  <a:txBody>
                    <a:bodyPr/>
                    <a:lstStyle/>
                    <a:p>
                      <a:pPr lvl="0" indent="0" marL="0" algn="l">
                        <a:buNone/>
                      </a:pPr>
                      <a:r>
                        <a:rPr/>
                        <a:t>올바른 문법 및 표현 모델링</a:t>
                      </a:r>
                    </a:p>
                  </a:txBody>
                </a:tc>
              </a:tr>
              <a:tr h="0">
                <a:tc>
                  <a:txBody>
                    <a:bodyPr/>
                    <a:lstStyle/>
                    <a:p>
                      <a:pPr lvl="0" indent="0" marL="0" algn="l">
                        <a:buNone/>
                      </a:pPr>
                      <a:r>
                        <a:rPr b="1"/>
                        <a:t>인지</a:t>
                      </a:r>
                    </a:p>
                  </a:txBody>
                </a:tc>
                <a:tc>
                  <a:txBody>
                    <a:bodyPr/>
                    <a:lstStyle/>
                    <a:p>
                      <a:pPr lvl="0" indent="0" marL="0" algn="l">
                        <a:buNone/>
                      </a:pPr>
                      <a:r>
                        <a:rPr/>
                        <a:t>모양/색깔 구분, 가상놀이</a:t>
                      </a:r>
                    </a:p>
                  </a:txBody>
                </a:tc>
                <a:tc>
                  <a:txBody>
                    <a:bodyPr/>
                    <a:lstStyle/>
                    <a:p>
                      <a:pPr lvl="0" indent="0" marL="0" algn="l">
                        <a:buNone/>
                      </a:pPr>
                      <a:r>
                        <a:rPr/>
                        <a:t>상상력 자극 및 선택권 부여</a:t>
                      </a:r>
                    </a:p>
                  </a:txBody>
                </a:tc>
              </a:tr>
              <a:tr h="0">
                <a:tc>
                  <a:txBody>
                    <a:bodyPr/>
                    <a:lstStyle/>
                    <a:p>
                      <a:pPr lvl="0" indent="0" marL="0" algn="l">
                        <a:buNone/>
                      </a:pPr>
                      <a:r>
                        <a:rPr b="1"/>
                        <a:t>사회성</a:t>
                      </a:r>
                    </a:p>
                  </a:txBody>
                </a:tc>
                <a:tc>
                  <a:txBody>
                    <a:bodyPr/>
                    <a:lstStyle/>
                    <a:p>
                      <a:pPr lvl="0" indent="0" marL="0" algn="l">
                        <a:buNone/>
                      </a:pPr>
                      <a:r>
                        <a:rPr/>
                        <a:t>또래 옆에서 놀기, 모방 행동</a:t>
                      </a:r>
                    </a:p>
                  </a:txBody>
                </a:tc>
                <a:tc>
                  <a:txBody>
                    <a:bodyPr/>
                    <a:lstStyle/>
                    <a:p>
                      <a:pPr lvl="0" indent="0" marL="0" algn="l">
                        <a:buNone/>
                      </a:pPr>
                      <a:r>
                        <a:rPr/>
                        <a:t>차례 지키기 및 공감 연습</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12개월 영유아 필수 예방접종</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돌 시기에 챙겨야 할 무료 및 유료 백신</a:t>
            </a:r>
          </a:p>
        </p:txBody>
      </p:sp>
      <p:sp>
        <p:nvSpPr>
          <p:cNvPr id="3" name="Content Placeholder 2"/>
          <p:cNvSpPr>
            <a:spLocks noGrp="1"/>
          </p:cNvSpPr>
          <p:nvPr>
            <p:ph idx="1"/>
          </p:nvPr>
        </p:nvSpPr>
        <p:spPr/>
        <p:txBody>
          <a:bodyPr/>
          <a:lstStyle/>
          <a:p>
            <a:pPr lvl="0"/>
            <a:r>
              <a:rPr/>
              <a:t>돌이 되면 무료 접종 6종과 선택 유료 접종 1종 등 총 7개의 접종이 대기 중이며 일정에서 몇 주 늦는 것은 큰 문제가 되지 않음</a:t>
            </a:r>
          </a:p>
          <a:p>
            <a:pPr lvl="0"/>
            <a:r>
              <a:rPr/>
              <a:t>수두 및 MMR은 돌 때 1차 접종 후 만 4~6세 사이에 2차 추가 접종을 완료해야 기초 방어력을 견고하게 형성할 수 있음</a:t>
            </a:r>
          </a:p>
          <a:p>
            <a:pPr lvl="0"/>
            <a:r>
              <a:rPr/>
              <a:t>폐구균과 뇌수막염은 돌 시기의 4차 접종을 끝으로 기초 접종 일정이 마무리되며 향후 업데이트되는 백신 소식에 주의를 기울여야 함</a:t>
            </a:r>
          </a:p>
          <a:p>
            <a:pPr lvl="0"/>
            <a:r>
              <a:rPr/>
              <a:t>일본뇌염은 백신 종류(생백신/사백신)에 따라 접종 횟수와 간격이 달라지므로 수첩을 확인하여 일관성 있게 완료하는 것이 중요함</a:t>
            </a:r>
          </a:p>
          <a:p>
            <a:pPr lvl="0"/>
            <a:r>
              <a:rPr/>
              <a:t>A형 간염은 1차 접종 후 6~12개월 뒤에 2차를 접종하며 항체 형성 효과가 매우 우수하여 별도의 검사 없이도 방어력이 생김</a:t>
            </a:r>
          </a:p>
          <a:p>
            <a:pPr lvl="0" indent="0" marL="0">
              <a:buNone/>
            </a:pPr>
            <a:r>
              <a:rPr b="1"/>
              <a:t>[12개월 필수 예방접종 요약표]</a:t>
            </a:r>
            <a:r>
              <a:rPr/>
              <a:t> | 백신명 | 차수 | 비고 | | :— | :— | :— | | </a:t>
            </a:r>
            <a:r>
              <a:rPr b="1"/>
              <a:t>수두</a:t>
            </a:r>
            <a:r>
              <a:rPr/>
              <a:t> | 1차 | 12~15개월 사이 접종 권장 | | </a:t>
            </a:r>
            <a:r>
              <a:rPr b="1"/>
              <a:t>MMR</a:t>
            </a:r>
            <a:r>
              <a:rPr/>
              <a:t> | 1차 | 접종 후 7~12일 사이 발열 가능성 | | </a:t>
            </a:r>
            <a:r>
              <a:rPr b="1"/>
              <a:t>폐구균</a:t>
            </a:r>
            <a:r>
              <a:rPr/>
              <a:t> | 4차 | 기초 접종 완료 단계 | | </a:t>
            </a:r>
            <a:r>
              <a:rPr b="1"/>
              <a:t>일본뇌염</a:t>
            </a:r>
            <a:r>
              <a:rPr/>
              <a:t> | 1~2차 | 백신 종류에 따라 일정 상이 | | </a:t>
            </a:r>
            <a:r>
              <a:rPr b="1"/>
              <a:t>A형 간염</a:t>
            </a:r>
            <a:r>
              <a:rPr/>
              <a:t> | 1차 | 2차는 6~12개월 후 접종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접종 후 이상 반응 대처</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안전한 귀가와 기록 관리 수칙</a:t>
            </a:r>
          </a:p>
        </p:txBody>
      </p:sp>
      <p:sp>
        <p:nvSpPr>
          <p:cNvPr id="3" name="Content Placeholder 2"/>
          <p:cNvSpPr>
            <a:spLocks noGrp="1"/>
          </p:cNvSpPr>
          <p:nvPr>
            <p:ph idx="1"/>
          </p:nvPr>
        </p:nvSpPr>
        <p:spPr/>
        <p:txBody>
          <a:bodyPr/>
          <a:lstStyle/>
          <a:p>
            <a:pPr lvl="0"/>
            <a:r>
              <a:rPr/>
              <a:t>접종 후 심각한 급성 알레르기 반응 확인을 위해 병원 내에서 15~20분 정도 아이의 상태를 세심하게 관찰한 뒤 귀가해야 함</a:t>
            </a:r>
          </a:p>
          <a:p>
            <a:pPr lvl="0"/>
            <a:r>
              <a:rPr/>
              <a:t>접종 당일 가벼운 목욕은 가능하며 접종 부위에 물이 묻어도 괜찮으나 지혈을 위해 붙인 밴드는 귀가 즉시 떼어 피부 발진을 예방함,</a:t>
            </a:r>
          </a:p>
          <a:p>
            <a:pPr lvl="0"/>
            <a:r>
              <a:rPr/>
              <a:t>MMR 백신은 다른 백신과 달리 접종 직후가 아닌 7~12일 사이에 지연성 발열 반응이 나타날 수 있으므로 해당 기간 관찰이 필수적임</a:t>
            </a:r>
          </a:p>
          <a:p>
            <a:pPr lvl="0"/>
            <a:r>
              <a:rPr/>
              <a:t>접종 후 하루나 이틀 정도 열이 나거나 보챌 수 있으며 밤에 열이 오르면 타이레놀이나 부루펜 시럽을 연령에 맞게 복용함</a:t>
            </a:r>
          </a:p>
          <a:p>
            <a:pPr lvl="0"/>
            <a:r>
              <a:rPr/>
              <a:t>평생 관리해야 할 예방접종 기록을 위해 수첩을 사진으로 찍어 디지털 보관하고 전산망 오류에 대비해 핸드폰에 일정을 별도 기록함</a:t>
            </a:r>
          </a:p>
          <a:p>
            <a:pPr lvl="0" indent="0" marL="0">
              <a:buNone/>
            </a:pPr>
            <a:r>
              <a:rPr b="1"/>
              <a:t>[접종 후 대처 흐름도]</a:t>
            </a:r>
            <a:r>
              <a:rPr/>
              <a:t> [병원 대기(20분)] -&gt; [귀가 후 밴드 제거] -&gt; [미열 발생 시 해열제] ↓ ↓ ↓ (급성 반응 확인) (피부 자극 최소화) (MMR은 7일 후 주의)</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돌 이후 아기 영양 가이드</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균형 잡힌 식단과 필수 영양제 선택</a:t>
            </a:r>
          </a:p>
        </p:txBody>
      </p:sp>
      <p:sp>
        <p:nvSpPr>
          <p:cNvPr id="4" name="Text Placeholder 3"/>
          <p:cNvSpPr>
            <a:spLocks noGrp="1"/>
          </p:cNvSpPr>
          <p:nvPr>
            <p:ph idx="2" sz="half" type="body"/>
          </p:nvPr>
        </p:nvSpPr>
        <p:spPr/>
        <p:txBody>
          <a:bodyPr/>
          <a:lstStyle/>
          <a:p>
            <a:pPr lvl="0"/>
            <a:r>
              <a:rPr/>
              <a:t>다양한 곡물, 채소, 과일, 단백질을 포함한 일반 식단을 통해 자연스럽게 영양을 공급하는 것이 영양제 의존보다 훨씬 중요함,</a:t>
            </a:r>
          </a:p>
          <a:p>
            <a:pPr lvl="0"/>
            <a:r>
              <a:rPr/>
              <a:t>비타민 D는 식품만으로 충분한 섭취가 어렵고 실내 생활이 많으므로 하루 600 IU 정도 보충해주는 것이 미국 소아과 학회 권장 사항임</a:t>
            </a:r>
          </a:p>
          <a:p>
            <a:pPr lvl="0"/>
            <a:r>
              <a:rPr/>
              <a:t>유산균은 장내 미생물 생태계에 긍정적인 영향을 주어 면역력 강화와 원활한 배변 활동에 도움을 주는 유익한 보조 수단으로 활용 가능함,</a:t>
            </a:r>
          </a:p>
          <a:p>
            <a:pPr lvl="0"/>
            <a:r>
              <a:rPr/>
              <a:t>특정 영양소(비타민 A, 철분, 아연 등)의 과다 복용은 오히려 건강을 해칠 수 있으므로 반드시 전문가와 상담 후 부족한 경우에만 보충함,</a:t>
            </a:r>
          </a:p>
          <a:p>
            <a:pPr lvl="0"/>
            <a:r>
              <a:rPr/>
              <a:t>두 돌 이전의 올바른 식습관은 평생 건강과 비만 위험을 결정짓는 핵심 요인이므로 새로운 음식을 거부하더라도 반복적으로 노출해 적응시킴,</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식품군</a:t>
                      </a:r>
                    </a:p>
                  </a:txBody>
                  <a:tcPr/>
                </a:tc>
                <a:tc>
                  <a:txBody>
                    <a:bodyPr/>
                    <a:lstStyle/>
                    <a:p>
                      <a:pPr lvl="0" indent="0" marL="0" algn="l">
                        <a:buNone/>
                      </a:pPr>
                      <a:r>
                        <a:rPr/>
                        <a:t>일일 권장 섭취량 (돌~두 돌)</a:t>
                      </a:r>
                    </a:p>
                  </a:txBody>
                  <a:tcPr/>
                </a:tc>
                <a:tc>
                  <a:txBody>
                    <a:bodyPr/>
                    <a:lstStyle/>
                    <a:p>
                      <a:pPr lvl="0" indent="0" marL="0" algn="l">
                        <a:buNone/>
                      </a:pPr>
                      <a:r>
                        <a:rPr/>
                        <a:t>비고</a:t>
                      </a:r>
                    </a:p>
                  </a:txBody>
                  <a:tcPr/>
                </a:tc>
              </a:tr>
              <a:tr h="0">
                <a:tc>
                  <a:txBody>
                    <a:bodyPr/>
                    <a:lstStyle/>
                    <a:p>
                      <a:pPr lvl="0" indent="0" marL="0" algn="l">
                        <a:buNone/>
                      </a:pPr>
                      <a:r>
                        <a:rPr b="1"/>
                        <a:t>곡물</a:t>
                      </a:r>
                    </a:p>
                  </a:txBody>
                </a:tc>
                <a:tc>
                  <a:txBody>
                    <a:bodyPr/>
                    <a:lstStyle/>
                    <a:p>
                      <a:pPr lvl="0" indent="0" marL="0" algn="l">
                        <a:buNone/>
                      </a:pPr>
                      <a:r>
                        <a:rPr/>
                        <a:t>약 85g (통곡물 위주)</a:t>
                      </a:r>
                    </a:p>
                  </a:txBody>
                </a:tc>
                <a:tc>
                  <a:txBody>
                    <a:bodyPr/>
                    <a:lstStyle/>
                    <a:p>
                      <a:pPr lvl="0" indent="0" marL="0" algn="l">
                        <a:buNone/>
                      </a:pPr>
                      <a:r>
                        <a:rPr/>
                        <a:t>에너지 공급원</a:t>
                      </a:r>
                    </a:p>
                  </a:txBody>
                </a:tc>
              </a:tr>
              <a:tr h="0">
                <a:tc>
                  <a:txBody>
                    <a:bodyPr/>
                    <a:lstStyle/>
                    <a:p>
                      <a:pPr lvl="0" indent="0" marL="0" algn="l">
                        <a:buNone/>
                      </a:pPr>
                      <a:r>
                        <a:rPr b="1"/>
                        <a:t>채소</a:t>
                      </a:r>
                    </a:p>
                  </a:txBody>
                </a:tc>
                <a:tc>
                  <a:txBody>
                    <a:bodyPr/>
                    <a:lstStyle/>
                    <a:p>
                      <a:pPr lvl="0" indent="0" marL="0" algn="l">
                        <a:buNone/>
                      </a:pPr>
                      <a:r>
                        <a:rPr/>
                        <a:t>1컵 (다양한 색상)</a:t>
                      </a:r>
                    </a:p>
                  </a:txBody>
                </a:tc>
                <a:tc>
                  <a:txBody>
                    <a:bodyPr/>
                    <a:lstStyle/>
                    <a:p>
                      <a:pPr lvl="0" indent="0" marL="0" algn="l">
                        <a:buNone/>
                      </a:pPr>
                      <a:r>
                        <a:rPr/>
                        <a:t>섬유질 및 비타민</a:t>
                      </a:r>
                    </a:p>
                  </a:txBody>
                </a:tc>
              </a:tr>
              <a:tr h="0">
                <a:tc>
                  <a:txBody>
                    <a:bodyPr/>
                    <a:lstStyle/>
                    <a:p>
                      <a:pPr lvl="0" indent="0" marL="0" algn="l">
                        <a:buNone/>
                      </a:pPr>
                      <a:r>
                        <a:rPr b="1"/>
                        <a:t>과일</a:t>
                      </a:r>
                    </a:p>
                  </a:txBody>
                </a:tc>
                <a:tc>
                  <a:txBody>
                    <a:bodyPr/>
                    <a:lstStyle/>
                    <a:p>
                      <a:pPr lvl="0" indent="0" marL="0" algn="l">
                        <a:buNone/>
                      </a:pPr>
                      <a:r>
                        <a:rPr/>
                        <a:t>1컵 (생과일)</a:t>
                      </a:r>
                    </a:p>
                  </a:txBody>
                </a:tc>
                <a:tc>
                  <a:txBody>
                    <a:bodyPr/>
                    <a:lstStyle/>
                    <a:p>
                      <a:pPr lvl="0" indent="0" marL="0" algn="l">
                        <a:buNone/>
                      </a:pPr>
                      <a:r>
                        <a:rPr/>
                        <a:t>항산화 영양소</a:t>
                      </a:r>
                    </a:p>
                  </a:txBody>
                </a:tc>
              </a:tr>
              <a:tr h="0">
                <a:tc>
                  <a:txBody>
                    <a:bodyPr/>
                    <a:lstStyle/>
                    <a:p>
                      <a:pPr lvl="0" indent="0" marL="0" algn="l">
                        <a:buNone/>
                      </a:pPr>
                      <a:r>
                        <a:rPr b="1"/>
                        <a:t>유제품</a:t>
                      </a:r>
                    </a:p>
                  </a:txBody>
                </a:tc>
                <a:tc>
                  <a:txBody>
                    <a:bodyPr/>
                    <a:lstStyle/>
                    <a:p>
                      <a:pPr lvl="0" indent="0" marL="0" algn="l">
                        <a:buNone/>
                      </a:pPr>
                      <a:r>
                        <a:rPr/>
                        <a:t>2컵 (우유 등)</a:t>
                      </a:r>
                    </a:p>
                  </a:txBody>
                </a:tc>
                <a:tc>
                  <a:txBody>
                    <a:bodyPr/>
                    <a:lstStyle/>
                    <a:p>
                      <a:pPr lvl="0" indent="0" marL="0" algn="l">
                        <a:buNone/>
                      </a:pPr>
                      <a:r>
                        <a:rPr/>
                        <a:t>칼슘 및 단백질</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생우유 전환 7일 루틴</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분유에서 우유로 부드럽게 넘어가는 법</a:t>
            </a:r>
          </a:p>
        </p:txBody>
      </p:sp>
      <p:sp>
        <p:nvSpPr>
          <p:cNvPr id="3" name="Content Placeholder 2"/>
          <p:cNvSpPr>
            <a:spLocks noGrp="1"/>
          </p:cNvSpPr>
          <p:nvPr>
            <p:ph idx="1"/>
          </p:nvPr>
        </p:nvSpPr>
        <p:spPr/>
        <p:txBody>
          <a:bodyPr/>
          <a:lstStyle/>
          <a:p>
            <a:pPr lvl="0"/>
            <a:r>
              <a:rPr/>
              <a:t>생후 12개월 이후에는 분유 의존도를 낮추고 칼슘과 비타민 D가 풍부한 생우유로 전환하여 아이의 성장과 치아 건강을 보호해야 함,</a:t>
            </a:r>
          </a:p>
          <a:p>
            <a:pPr lvl="0"/>
            <a:r>
              <a:rPr/>
              <a:t>갑작스러운 변화는 거부감을 줄 수 있으므로 7일 동안 분유와 우유의 혼합 비율을 단계적으로 조정하여 아이의 입맛이 적응하게 도움</a:t>
            </a:r>
          </a:p>
          <a:p>
            <a:pPr lvl="0"/>
            <a:r>
              <a:rPr/>
              <a:t>초기에는 보관이 편리한 멸균우유로 시작하여 거부감을 줄이고 점차 영양 보존율이 높은 냉장우유로 넘어가며 아기에게 맞는 제품을 찾음</a:t>
            </a:r>
          </a:p>
          <a:p>
            <a:pPr lvl="0"/>
            <a:r>
              <a:rPr/>
              <a:t>우유 전환 시 젖병 대신 빨대컵이나 일반 컵 사용 연습을 병행하여 젖병 의존도를 낮추고 구강 발달 및 충치 예방을 도모함,</a:t>
            </a:r>
          </a:p>
          <a:p>
            <a:pPr lvl="0"/>
            <a:r>
              <a:rPr/>
              <a:t>전환 과정에서 설사나 알레르기 반응이 있는지 세심하게 관찰하고 처음에는 유기농이나 무항생제 우유를 선택하는 것이 안심할 수 있음</a:t>
            </a:r>
          </a:p>
          <a:p>
            <a:pPr lvl="0" indent="0" marL="0">
              <a:buNone/>
            </a:pPr>
            <a:r>
              <a:rPr b="1"/>
              <a:t>[복쿠맘의 7일 우유 전환 루틴]</a:t>
            </a:r>
            <a:r>
              <a:rPr/>
              <a:t> 1~2일차: 분유 70% + 우유 30% 3~4일차: 분유 50% + 우유 50% 5~6일차: 분유 30% + 우유 70% 7일차: 우유 100% 완전 전환</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올바른 식습관 형성의 원칙</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정해진 자리에서 스스로 먹는 습관 기르기</a:t>
            </a:r>
          </a:p>
        </p:txBody>
      </p:sp>
      <p:sp>
        <p:nvSpPr>
          <p:cNvPr id="3" name="Content Placeholder 2"/>
          <p:cNvSpPr>
            <a:spLocks noGrp="1"/>
          </p:cNvSpPr>
          <p:nvPr>
            <p:ph idx="1"/>
          </p:nvPr>
        </p:nvSpPr>
        <p:spPr/>
        <p:txBody>
          <a:bodyPr/>
          <a:lstStyle/>
          <a:p>
            <a:pPr lvl="0"/>
            <a:r>
              <a:rPr/>
              <a:t>식사 시간의 하이체어 사용은 단순히 편리함을 넘어 스스로 자신의 일을 처리하는 첫 번째 생활 규칙 교육이자 훈육의 시작임,</a:t>
            </a:r>
          </a:p>
          <a:p>
            <a:pPr lvl="0"/>
            <a:r>
              <a:rPr/>
              <a:t>TV나 스마트폰 영상 등 식사 집중을 방해하는 시청각 자극을 차단하여 아기가 음식의 맛과 질감에 온전히 집중할 수 있는 환경을 조성함</a:t>
            </a:r>
          </a:p>
          <a:p>
            <a:pPr lvl="0"/>
            <a:r>
              <a:rPr/>
              <a:t>지루함으로 인한 거부감을 줄이기 위해 식사 준비가 완료되기 직전에 자리에 앉히며 지정된 장소에서만 먹는 원칙을 일관되게 고수함</a:t>
            </a:r>
          </a:p>
          <a:p>
            <a:pPr lvl="0"/>
            <a:r>
              <a:rPr/>
              <a:t>억지로 따라다니며 먹이는 행위는 아기의 주도적 식사 능력을 저해하므로 자리를 벗어나면 즉시 식사가 종료된다는 것을 인지시켜야 함</a:t>
            </a:r>
          </a:p>
          <a:p>
            <a:pPr lvl="0"/>
            <a:r>
              <a:rPr/>
              <a:t>음식을 거부할 때는 쿨하게 식기를 치우고 다음 끼니까지 간식을 제한하여 배고픔을 통해 스스로 식사할 동기를 가질 수 있게 훈육함</a:t>
            </a:r>
          </a:p>
          <a:p>
            <a:pPr lvl="0" indent="0" marL="0">
              <a:buNone/>
            </a:pPr>
            <a:r>
              <a:rPr b="1"/>
              <a:t>[식습관 형성 4단계]</a:t>
            </a:r>
            <a:r>
              <a:rPr/>
              <a:t> 1. 환경 정리 (미디어 및 놀잇감 차단) 2. 직전 착석 (흥미 유지 및 거부감 예방) 3. 스스로 먹기 (숟가락 사용 연습 격려) 4. 자리 이탈 시 종료 (단호하고 일관된 훈육)</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아동 기질의 7가지 측면</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타고난 개성을 이해하는 부모의 시선</a:t>
            </a:r>
          </a:p>
        </p:txBody>
      </p:sp>
      <p:sp>
        <p:nvSpPr>
          <p:cNvPr id="4" name="Text Placeholder 3"/>
          <p:cNvSpPr>
            <a:spLocks noGrp="1"/>
          </p:cNvSpPr>
          <p:nvPr>
            <p:ph idx="2" sz="half" type="body"/>
          </p:nvPr>
        </p:nvSpPr>
        <p:spPr/>
        <p:txBody>
          <a:bodyPr/>
          <a:lstStyle/>
          <a:p>
            <a:pPr lvl="0"/>
            <a:r>
              <a:rPr/>
              <a:t>활동 수준은 아이의 신체적 에너지 양을 결정하며 쉬지 않고 움직이는 아이와 조용히 탐색하는 아이의 차이를 인정하고 존중해야 함</a:t>
            </a:r>
          </a:p>
          <a:p>
            <a:pPr lvl="0"/>
            <a:r>
              <a:rPr/>
              <a:t>규칙성은 먹고 자는 생활 리듬의 일정함이며 리듬이 불규칙한 아이에게는 억지스러운 강요보다 유연한 환경 조정이 더 효과적임</a:t>
            </a:r>
          </a:p>
          <a:p>
            <a:pPr lvl="0"/>
            <a:r>
              <a:rPr/>
              <a:t>새로운 상황에 대한 반응은 낯선 환경에 다가가는 속도이며 조심스럽게 관찰하며 적응 시간이 필요한 아이를 재촉하지 않는 배려가 필요함</a:t>
            </a:r>
          </a:p>
          <a:p>
            <a:pPr lvl="0"/>
            <a:r>
              <a:rPr/>
              <a:t>주의 전환은 외부 자극에 관심이 옮겨가는 정도이며 집중력이 높거나 산만한 기질적 특성에 맞춰 놀이 시간과 공간을 구성해야 함</a:t>
            </a:r>
          </a:p>
          <a:p>
            <a:pPr lvl="0"/>
            <a:r>
              <a:rPr/>
              <a:t>감정 표현의 강도는 기쁨과 슬픔을 드러내는 정도이며 격렬하게 반응하는 아이와 억눌린 반응을 보이는 아이의 소통 방식을 달리해야 함,</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기질 유형</a:t>
                      </a:r>
                    </a:p>
                  </a:txBody>
                  <a:tcPr/>
                </a:tc>
                <a:tc>
                  <a:txBody>
                    <a:bodyPr/>
                    <a:lstStyle/>
                    <a:p>
                      <a:pPr lvl="0" indent="0" marL="0" algn="l">
                        <a:buNone/>
                      </a:pPr>
                      <a:r>
                        <a:rPr/>
                        <a:t>주요 특징</a:t>
                      </a:r>
                    </a:p>
                  </a:txBody>
                  <a:tcPr/>
                </a:tc>
                <a:tc>
                  <a:txBody>
                    <a:bodyPr/>
                    <a:lstStyle/>
                    <a:p>
                      <a:pPr lvl="0" indent="0" marL="0" algn="l">
                        <a:buNone/>
                      </a:pPr>
                      <a:r>
                        <a:rPr/>
                        <a:t>양육 전략</a:t>
                      </a:r>
                    </a:p>
                  </a:txBody>
                  <a:tcPr/>
                </a:tc>
              </a:tr>
              <a:tr h="0">
                <a:tc>
                  <a:txBody>
                    <a:bodyPr/>
                    <a:lstStyle/>
                    <a:p>
                      <a:pPr lvl="0" indent="0" marL="0" algn="l">
                        <a:buNone/>
                      </a:pPr>
                      <a:r>
                        <a:rPr b="1"/>
                        <a:t>순한 아이</a:t>
                      </a:r>
                    </a:p>
                  </a:txBody>
                </a:tc>
                <a:tc>
                  <a:txBody>
                    <a:bodyPr/>
                    <a:lstStyle/>
                    <a:p>
                      <a:pPr lvl="0" indent="0" marL="0" algn="l">
                        <a:buNone/>
                      </a:pPr>
                      <a:r>
                        <a:rPr/>
                        <a:t>규칙적, 긍정적 반응</a:t>
                      </a:r>
                    </a:p>
                  </a:txBody>
                </a:tc>
                <a:tc>
                  <a:txBody>
                    <a:bodyPr/>
                    <a:lstStyle/>
                    <a:p>
                      <a:pPr lvl="0" indent="0" marL="0" algn="l">
                        <a:buNone/>
                      </a:pPr>
                      <a:r>
                        <a:rPr/>
                        <a:t>주도성과 자율성 키워주기</a:t>
                      </a:r>
                    </a:p>
                  </a:txBody>
                </a:tc>
              </a:tr>
              <a:tr h="0">
                <a:tc>
                  <a:txBody>
                    <a:bodyPr/>
                    <a:lstStyle/>
                    <a:p>
                      <a:pPr lvl="0" indent="0" marL="0" algn="l">
                        <a:buNone/>
                      </a:pPr>
                      <a:r>
                        <a:rPr b="1"/>
                        <a:t>까다로운 아이</a:t>
                      </a:r>
                    </a:p>
                  </a:txBody>
                </a:tc>
                <a:tc>
                  <a:txBody>
                    <a:bodyPr/>
                    <a:lstStyle/>
                    <a:p>
                      <a:pPr lvl="0" indent="0" marL="0" algn="l">
                        <a:buNone/>
                      </a:pPr>
                      <a:r>
                        <a:rPr/>
                        <a:t>불규칙적, 변화 거부</a:t>
                      </a:r>
                    </a:p>
                  </a:txBody>
                </a:tc>
                <a:tc>
                  <a:txBody>
                    <a:bodyPr/>
                    <a:lstStyle/>
                    <a:p>
                      <a:pPr lvl="0" indent="0" marL="0" algn="l">
                        <a:buNone/>
                      </a:pPr>
                      <a:r>
                        <a:rPr/>
                        <a:t>융통성 있는 일과와 사전 안내</a:t>
                      </a:r>
                    </a:p>
                  </a:txBody>
                </a:tc>
              </a:tr>
              <a:tr h="0">
                <a:tc>
                  <a:txBody>
                    <a:bodyPr/>
                    <a:lstStyle/>
                    <a:p>
                      <a:pPr lvl="0" indent="0" marL="0" algn="l">
                        <a:buNone/>
                      </a:pPr>
                      <a:r>
                        <a:rPr b="1"/>
                        <a:t>느린 아이</a:t>
                      </a:r>
                    </a:p>
                  </a:txBody>
                </a:tc>
                <a:tc>
                  <a:txBody>
                    <a:bodyPr/>
                    <a:lstStyle/>
                    <a:p>
                      <a:pPr lvl="0" indent="0" marL="0" algn="l">
                        <a:buNone/>
                      </a:pPr>
                      <a:r>
                        <a:rPr/>
                        <a:t>적응 시간 필요</a:t>
                      </a:r>
                    </a:p>
                  </a:txBody>
                </a:tc>
                <a:tc>
                  <a:txBody>
                    <a:bodyPr/>
                    <a:lstStyle/>
                    <a:p>
                      <a:pPr lvl="0" indent="0" marL="0" algn="l">
                        <a:buNone/>
                      </a:pPr>
                      <a:r>
                        <a:rPr/>
                        <a:t>재촉하지 않고 충분히 기다리기</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부모와 자녀 기질의 조화</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갈등을 줄이는 상호 작용의 지혜</a:t>
            </a:r>
          </a:p>
        </p:txBody>
      </p:sp>
      <p:sp>
        <p:nvSpPr>
          <p:cNvPr id="3" name="Content Placeholder 2"/>
          <p:cNvSpPr>
            <a:spLocks noGrp="1"/>
          </p:cNvSpPr>
          <p:nvPr>
            <p:ph idx="1"/>
          </p:nvPr>
        </p:nvSpPr>
        <p:spPr/>
        <p:txBody>
          <a:bodyPr/>
          <a:lstStyle/>
          <a:p>
            <a:pPr lvl="0"/>
            <a:r>
              <a:rPr/>
              <a:t>양육은 아이의 기질과 부모의 기질이 충돌하고 융합하는 과정이므로 부모 스스로 자신의 기질을 객관적으로 성찰하는 과정이 선행되어야 함,</a:t>
            </a:r>
          </a:p>
          <a:p>
            <a:pPr lvl="0"/>
            <a:r>
              <a:rPr/>
              <a:t>활동적인 부모와 정적인 아이처럼 기질적 차이가 클 때 발생하는 마찰을 아이의 반항이 아닌 ’부조화’의 문제로 인식하고 기대를 조절함,</a:t>
            </a:r>
          </a:p>
          <a:p>
            <a:pPr lvl="0"/>
            <a:r>
              <a:rPr/>
              <a:t>기질적 유사성이 높을 경우 서로를 잘 이해할 수 있으나 갈등 상황에서 같은 방식으로 폭발할 수 있으므로 부모의 자기 조절력이 더욱 요구됨</a:t>
            </a:r>
          </a:p>
          <a:p>
            <a:pPr lvl="0"/>
            <a:r>
              <a:rPr/>
              <a:t>타고난 기질은 바꿀 수 없는 부분임을 인정하고 아이의 장점을 키워주며 어려워하는 영역은 환경을 조정해 극복할 수 있도록 지원함,</a:t>
            </a:r>
          </a:p>
          <a:p>
            <a:pPr lvl="0"/>
            <a:r>
              <a:rPr/>
              <a:t>기질 차이를 극복하기 위해 싸우기보다 서로의 다름을 존중하며 갈등을 해결할 타협점을 찾는 모습은 아이에게 훌륭한 인간관계의 표본이 됨</a:t>
            </a:r>
          </a:p>
          <a:p>
            <a:pPr lvl="0" indent="0" marL="0">
              <a:buNone/>
            </a:pPr>
            <a:r>
              <a:rPr b="1"/>
              <a:t>[기질 조화도 체크 리스트]</a:t>
            </a:r>
            <a:r>
              <a:rPr/>
              <a:t> - 활동 수준 (활동형 vs 정적형) - 규칙성 (계획형 vs 즉흥형) - 적응성 (수용형 vs 관찰형) - 반응 강도 (격렬형 vs 온건형) - 조화로운 지점 찾기 ➡ </a:t>
            </a:r>
            <a:r>
              <a:rPr b="1"/>
              <a:t>[양육의 질 향상]</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떼쓰기와 분노 발작 대처</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정서적 폭풍우 속에서 안전하게 가이드하기</a:t>
            </a:r>
          </a:p>
        </p:txBody>
      </p:sp>
      <p:sp>
        <p:nvSpPr>
          <p:cNvPr id="3" name="Content Placeholder 2"/>
          <p:cNvSpPr>
            <a:spLocks noGrp="1"/>
          </p:cNvSpPr>
          <p:nvPr>
            <p:ph idx="1"/>
          </p:nvPr>
        </p:nvSpPr>
        <p:spPr/>
        <p:txBody>
          <a:bodyPr/>
          <a:lstStyle/>
          <a:p>
            <a:pPr lvl="0"/>
            <a:r>
              <a:rPr/>
              <a:t>만 1세에서 3세 사이에는 자아가 발달하며 감정 조절이 미숙하여 거세게 울부짖는 ’분노 발작’이 지극히 정상적인 발달 과정임을 숙지함</a:t>
            </a:r>
          </a:p>
          <a:p>
            <a:pPr lvl="0"/>
            <a:r>
              <a:rPr/>
              <a:t>아이가 심하게 떼를 쓴다고 해서 요구사항을 즉시 들어주는 것은 위험하며 이는 거센 표현을 무기로 사용하게 만드는 부정적 강화가 될 수 있음</a:t>
            </a:r>
          </a:p>
          <a:p>
            <a:pPr lvl="0"/>
            <a:r>
              <a:rPr/>
              <a:t>폭풍우가 지나가듯 아이가 진정될 때까지 곁에서 안전하게 보호하며 기다려주고 감정이 가라앉은 후에 비로소 훈육과 대화를 시도함,</a:t>
            </a:r>
          </a:p>
          <a:p>
            <a:pPr lvl="0"/>
            <a:r>
              <a:rPr/>
              <a:t>“화가 났구나”라고 감정은 명확히 읽어주되 사람을 때리거나 물건을 던지는 파괴적인 행동에는 “안 돼”라고 짧고 단호한 한계를 설정함,</a:t>
            </a:r>
          </a:p>
          <a:p>
            <a:pPr lvl="0"/>
            <a:r>
              <a:rPr/>
              <a:t>배고픔, 졸음, 심심함 등 아이가 주로 떼를 부리는 상황 패턴을 파악하여 불필요한 마찰을 미리 방지하고 적절한 주의 전환을 활용함,</a:t>
            </a:r>
          </a:p>
          <a:p>
            <a:pPr lvl="0" indent="0" marL="0">
              <a:buNone/>
            </a:pPr>
            <a:r>
              <a:rPr b="1"/>
              <a:t>[분노 발작 대처 가이드]</a:t>
            </a:r>
            <a:r>
              <a:rPr/>
              <a:t> - 피해야 할 반응: 같이 소리 지르기, 때리기, 즉시 굴복하기 - 바람직한 방식: 안전 확보 후 대기 ➡ 감정 라벨링 ➡ 대안 표현 제시</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0~12개월 연령별 추천 장난감</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오감 발달과 탐색을 돕는 놀잇감</a:t>
            </a:r>
          </a:p>
        </p:txBody>
      </p:sp>
      <p:sp>
        <p:nvSpPr>
          <p:cNvPr id="3" name="Content Placeholder 2"/>
          <p:cNvSpPr>
            <a:spLocks noGrp="1"/>
          </p:cNvSpPr>
          <p:nvPr>
            <p:ph idx="1"/>
          </p:nvPr>
        </p:nvSpPr>
        <p:spPr/>
        <p:txBody>
          <a:bodyPr/>
          <a:lstStyle/>
          <a:p>
            <a:pPr lvl="0"/>
            <a:r>
              <a:rPr/>
              <a:t>0~3개월 신생아기에는 명암과 패턴에 반응하는 시기이므로 흑백 모빌과 초점책을 통해 시각적 호기심과 집중력을 자극함</a:t>
            </a:r>
          </a:p>
          <a:p>
            <a:pPr lvl="0"/>
            <a:r>
              <a:rPr/>
              <a:t>3~6개월에는 손에 잡히는 모든 것을 입에 넣어 탐색하므로 세척이 용이하고 안전한 치발기, 딸랑이, 헝ꊊ책을 제공해 촉각 발달을 도움</a:t>
            </a:r>
          </a:p>
          <a:p>
            <a:pPr lvl="0"/>
            <a:r>
              <a:rPr/>
              <a:t>6~9개월은 대상 영속성이 발달하고 앉기 시작하므로 까꿍놀이 장난감과 누르면 소리 나는 사운드북, 링 쌓기 등으로 인지 성장을 지원함</a:t>
            </a:r>
          </a:p>
          <a:p>
            <a:pPr lvl="0"/>
            <a:r>
              <a:rPr/>
              <a:t>9~12개월은 독립적인 이동 능력이 발달하므로 수레나 승용 완구 등 밀고 당길 수 있는 장난감과 다양한 크기의 공놀이로 대근육을 단련함</a:t>
            </a:r>
          </a:p>
          <a:p>
            <a:pPr lvl="0"/>
            <a:r>
              <a:rPr/>
              <a:t>주양육자의 다정한 얼굴 표정과 목소리는 이 시기 가장 훌륭한 장난감이며 상호작용을 통해 사회적 신뢰 관계의 토대를 닦는 것이 중요함</a:t>
            </a:r>
          </a:p>
          <a:p>
            <a:pPr lvl="0" indent="0" marL="0">
              <a:buNone/>
            </a:pPr>
            <a:r>
              <a:rPr b="1"/>
              <a:t>[0~12개월 놀잇감 구성]</a:t>
            </a:r>
            <a:r>
              <a:rPr/>
              <a:t> [시각: 흑백모빌] -&gt; [청각: 딸랑이] -&gt; [촉각: 헝ꊊ책] -&gt; [대근육: 보행기/공] ↓ ↓ ↓ ↓ (100일 전후) (3개월 이후) (6개월 이후) (돌 전후)</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12~36개월 연령별 추천 장난감</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상상력과 소근육 정교화를 위한 놀잇감</a:t>
            </a:r>
          </a:p>
        </p:txBody>
      </p:sp>
      <p:sp>
        <p:nvSpPr>
          <p:cNvPr id="4" name="Text Placeholder 3"/>
          <p:cNvSpPr>
            <a:spLocks noGrp="1"/>
          </p:cNvSpPr>
          <p:nvPr>
            <p:ph idx="2" sz="half" type="body"/>
          </p:nvPr>
        </p:nvSpPr>
        <p:spPr/>
        <p:txBody>
          <a:bodyPr/>
          <a:lstStyle/>
          <a:p>
            <a:pPr lvl="0"/>
            <a:r>
              <a:rPr/>
              <a:t>12~18개월에는 일상 사물의 기능을 모방하기 시작하므로 소꿉놀이, 전화기 놀이, 인형 돌보기 등 간단한 가상놀이 도구를 제공함</a:t>
            </a:r>
          </a:p>
          <a:p>
            <a:pPr lvl="0"/>
            <a:r>
              <a:rPr/>
              <a:t>18~24개월은 소근육 조작이 정밀해지므로 2~3조각의 쉬운 퍼즐, 블록 쌓기, 색칠 공부 도구 등을 통해 성취감과 집중력을 높여줌</a:t>
            </a:r>
          </a:p>
          <a:p>
            <a:pPr lvl="0"/>
            <a:r>
              <a:rPr/>
              <a:t>24~36개월은 언어와 인지 능력이 급격히 발달하므로 병원 놀이 등 역할놀이 세트와 복잡한 형태 구성이 가능한 블록, 클레이 등을 활용함</a:t>
            </a:r>
          </a:p>
          <a:p>
            <a:pPr lvl="0"/>
            <a:r>
              <a:rPr/>
              <a:t>계단 오르내리기, 세발자전거 타기 등 야외 활동을 통해 신체 조절 능력을 키우고 대근육 발달을 돕는 활동적인 놀이를 병행함</a:t>
            </a:r>
          </a:p>
          <a:p>
            <a:pPr lvl="0"/>
            <a:r>
              <a:rPr/>
              <a:t>안전 가위나 풀 등을 사용한 미술 활동을 통해 섬세한 표현력을 기르고 자신의 창의적인 결과물을 부모와 공유하며 자존감을 키움</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연령</a:t>
                      </a:r>
                    </a:p>
                  </a:txBody>
                  <a:tcPr/>
                </a:tc>
                <a:tc>
                  <a:txBody>
                    <a:bodyPr/>
                    <a:lstStyle/>
                    <a:p>
                      <a:pPr lvl="0" indent="0" marL="0" algn="l">
                        <a:buNone/>
                      </a:pPr>
                      <a:r>
                        <a:rPr/>
                        <a:t>추천 장난감</a:t>
                      </a:r>
                    </a:p>
                  </a:txBody>
                  <a:tcPr/>
                </a:tc>
                <a:tc>
                  <a:txBody>
                    <a:bodyPr/>
                    <a:lstStyle/>
                    <a:p>
                      <a:pPr lvl="0" indent="0" marL="0" algn="l">
                        <a:buNone/>
                      </a:pPr>
                      <a:r>
                        <a:rPr/>
                        <a:t>발달 목표</a:t>
                      </a:r>
                    </a:p>
                  </a:txBody>
                  <a:tcPr/>
                </a:tc>
              </a:tr>
              <a:tr h="0">
                <a:tc>
                  <a:txBody>
                    <a:bodyPr/>
                    <a:lstStyle/>
                    <a:p>
                      <a:pPr lvl="0" indent="0" marL="0" algn="l">
                        <a:buNone/>
                      </a:pPr>
                      <a:r>
                        <a:rPr b="1"/>
                        <a:t>12~18m</a:t>
                      </a:r>
                    </a:p>
                  </a:txBody>
                </a:tc>
                <a:tc>
                  <a:txBody>
                    <a:bodyPr/>
                    <a:lstStyle/>
                    <a:p>
                      <a:pPr lvl="0" indent="0" marL="0" algn="l">
                        <a:buNone/>
                      </a:pPr>
                      <a:r>
                        <a:rPr/>
                        <a:t>끌기 장난감, 전화기</a:t>
                      </a:r>
                    </a:p>
                  </a:txBody>
                </a:tc>
                <a:tc>
                  <a:txBody>
                    <a:bodyPr/>
                    <a:lstStyle/>
                    <a:p>
                      <a:pPr lvl="0" indent="0" marL="0" algn="l">
                        <a:buNone/>
                      </a:pPr>
                      <a:r>
                        <a:rPr/>
                        <a:t>모방 및 독립 보행</a:t>
                      </a:r>
                    </a:p>
                  </a:txBody>
                </a:tc>
              </a:tr>
              <a:tr h="0">
                <a:tc>
                  <a:txBody>
                    <a:bodyPr/>
                    <a:lstStyle/>
                    <a:p>
                      <a:pPr lvl="0" indent="0" marL="0" algn="l">
                        <a:buNone/>
                      </a:pPr>
                      <a:r>
                        <a:rPr b="1"/>
                        <a:t>18~24m</a:t>
                      </a:r>
                    </a:p>
                  </a:txBody>
                </a:tc>
                <a:tc>
                  <a:txBody>
                    <a:bodyPr/>
                    <a:lstStyle/>
                    <a:p>
                      <a:pPr lvl="0" indent="0" marL="0" algn="l">
                        <a:buNone/>
                      </a:pPr>
                      <a:r>
                        <a:rPr/>
                        <a:t>블록, 2조각 퍼즐</a:t>
                      </a:r>
                    </a:p>
                  </a:txBody>
                </a:tc>
                <a:tc>
                  <a:txBody>
                    <a:bodyPr/>
                    <a:lstStyle/>
                    <a:p>
                      <a:pPr lvl="0" indent="0" marL="0" algn="l">
                        <a:buNone/>
                      </a:pPr>
                      <a:r>
                        <a:rPr/>
                        <a:t>소근육 정교화</a:t>
                      </a:r>
                    </a:p>
                  </a:txBody>
                </a:tc>
              </a:tr>
              <a:tr h="0">
                <a:tc>
                  <a:txBody>
                    <a:bodyPr/>
                    <a:lstStyle/>
                    <a:p>
                      <a:pPr lvl="0" indent="0" marL="0" algn="l">
                        <a:buNone/>
                      </a:pPr>
                      <a:r>
                        <a:rPr b="1"/>
                        <a:t>24~36m</a:t>
                      </a:r>
                    </a:p>
                  </a:txBody>
                </a:tc>
                <a:tc>
                  <a:txBody>
                    <a:bodyPr/>
                    <a:lstStyle/>
                    <a:p>
                      <a:pPr lvl="0" indent="0" marL="0" algn="l">
                        <a:buNone/>
                      </a:pPr>
                      <a:r>
                        <a:rPr/>
                        <a:t>역할놀이, 세발자전거</a:t>
                      </a:r>
                    </a:p>
                  </a:txBody>
                </a:tc>
                <a:tc>
                  <a:txBody>
                    <a:bodyPr/>
                    <a:lstStyle/>
                    <a:p>
                      <a:pPr lvl="0" indent="0" marL="0" algn="l">
                        <a:buNone/>
                      </a:pPr>
                      <a:r>
                        <a:rPr/>
                        <a:t>사회성 및 신체 조절</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가정 내 안전사고 예방 수칙</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월령별 발달 특성에 맞춘 위험 요소 차단</a:t>
            </a:r>
          </a:p>
        </p:txBody>
      </p:sp>
      <p:sp>
        <p:nvSpPr>
          <p:cNvPr id="3" name="Content Placeholder 2"/>
          <p:cNvSpPr>
            <a:spLocks noGrp="1"/>
          </p:cNvSpPr>
          <p:nvPr>
            <p:ph idx="1"/>
          </p:nvPr>
        </p:nvSpPr>
        <p:spPr/>
        <p:txBody>
          <a:bodyPr/>
          <a:lstStyle/>
          <a:p>
            <a:pPr lvl="0"/>
            <a:r>
              <a:rPr/>
              <a:t>어린이 안전사고의 약 60%가 가정 내에서 발생하므로 부모는 아이의 눈높이에서 잠재적인 위험 요소를 상시 점검하고 제거해야 함</a:t>
            </a:r>
          </a:p>
          <a:p>
            <a:pPr lvl="0"/>
            <a:r>
              <a:rPr/>
              <a:t>0~6개월에는 질식 및 추락 예방을 위해 너무 푹신한 이불을 지양하고 수유 후 트림을 시키며 침대 난간을 항상 고정하여 사고를 방지함</a:t>
            </a:r>
          </a:p>
          <a:p>
            <a:pPr lvl="0"/>
            <a:r>
              <a:rPr/>
              <a:t>7~12개월 탐색기에는 콘센트 안전 덮개 설치, 식탁보 제거, 날카로운 주방도구 격리 등을 통해 감전과 추락, 베임 사고를 철저히 예방함</a:t>
            </a:r>
          </a:p>
          <a:p>
            <a:pPr lvl="0"/>
            <a:r>
              <a:rPr/>
              <a:t>13~24개월 보행기에는 화상 주의를 위해 정수기, 밥솥, 다리미 등을 아이 손이 닿지 않는 곳에 두고 냄비 손잡이를 안쪽으로 돌림</a:t>
            </a:r>
          </a:p>
          <a:p>
            <a:pPr lvl="0"/>
            <a:r>
              <a:rPr/>
              <a:t>25~36개월 신체 조절 미숙기에는 약품과 세제를 높은 곳에 보관하고 가구 모서리 보호대 설치로 부딪힘 사고에 대비함</a:t>
            </a:r>
          </a:p>
          <a:p>
            <a:pPr lvl="0" indent="0" marL="0">
              <a:buNone/>
            </a:pPr>
            <a:r>
              <a:rPr b="1"/>
              <a:t>[유형별 예방 대책 표]</a:t>
            </a:r>
            <a:r>
              <a:rPr/>
              <a:t> | 사고 유형 | 주요 위험 요소 | 예방 대책 | | :— | :— | :— | | </a:t>
            </a:r>
            <a:r>
              <a:rPr b="1"/>
              <a:t>추락</a:t>
            </a:r>
            <a:r>
              <a:rPr/>
              <a:t> | 침대, 베란다 창문 | 난간 고정 및 발판 제거 | | </a:t>
            </a:r>
            <a:r>
              <a:rPr b="1"/>
              <a:t>질식</a:t>
            </a:r>
            <a:r>
              <a:rPr/>
              <a:t> | 비닐봉지, 작은 장난감 | 손에 닿지 않게 정리 | | </a:t>
            </a:r>
            <a:r>
              <a:rPr b="1"/>
              <a:t>감전</a:t>
            </a:r>
            <a:r>
              <a:rPr/>
              <a:t> | 전기 콘센트, 젓가락 | 안전 커버 설치 필수 | | </a:t>
            </a:r>
            <a:r>
              <a:rPr b="1"/>
              <a:t>화상</a:t>
            </a:r>
            <a:r>
              <a:rPr/>
              <a:t> | 다리미, 뜨거운 음식 | 아이 손이 닿지 않는 높이 |</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영유아 발달 지원 및 전문 서비스</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조기 발견과 개입을 위한 공공 의료 체계</a:t>
            </a:r>
          </a:p>
        </p:txBody>
      </p:sp>
      <p:sp>
        <p:nvSpPr>
          <p:cNvPr id="3" name="Content Placeholder 2"/>
          <p:cNvSpPr>
            <a:spLocks noGrp="1"/>
          </p:cNvSpPr>
          <p:nvPr>
            <p:ph idx="1"/>
          </p:nvPr>
        </p:nvSpPr>
        <p:spPr/>
        <p:txBody>
          <a:bodyPr/>
          <a:lstStyle/>
          <a:p>
            <a:pPr lvl="0"/>
            <a:r>
              <a:rPr/>
              <a:t>국가 영유아 건강검진(생후 14일~71개월 총 8회)을 정기적으로 수행하여 아이의 신체 성장과 발달 이상을 조기에 선별하는 것이 중요함</a:t>
            </a:r>
          </a:p>
          <a:p>
            <a:pPr lvl="0"/>
            <a:r>
              <a:rPr/>
              <a:t>검진 결과 ‘심화평가 권고’ 판정을 받은 경우 소득 기준에 따라 발달장애 정밀 검사비를 지원받아 전문적인 조기 개입 기회를 확보함</a:t>
            </a:r>
          </a:p>
          <a:p>
            <a:pPr lvl="0"/>
            <a:r>
              <a:rPr/>
              <a:t>발달 지연이 의심될 경우 소아청소년정신건강의학과나 소아재활의학과 전문의가 상주하는 신뢰할 수 있는 의료기관을 방문하여 진단함</a:t>
            </a:r>
          </a:p>
          <a:p>
            <a:pPr lvl="0"/>
            <a:r>
              <a:rPr/>
              <a:t>각 지역 육아종합지원센터에서 제공하는 ‘보육맘’ 상담과 ’육아플래너’의 가정 방문 서비스를 통해 양육 고민과 정보를 공유받음</a:t>
            </a:r>
          </a:p>
          <a:p>
            <a:pPr lvl="0"/>
            <a:r>
              <a:rPr/>
              <a:t>발달 검사뿐만 아니라 부모 코칭, 전문가 상담 등 다영역 전문가들이 협력하여 아이의 건강한 성장을 통합적으로 돕는 우리아이발달지원단을 활용함</a:t>
            </a:r>
          </a:p>
          <a:p>
            <a:pPr lvl="0" indent="0" marL="0">
              <a:buNone/>
            </a:pPr>
            <a:r>
              <a:rPr b="1"/>
              <a:t>[발달 지원 서비스 이용 경로]</a:t>
            </a:r>
            <a:r>
              <a:rPr/>
              <a:t> 1. 영유아 건강검진 (보건소/지정 병원) 2. 발달 정밀 검사 (전문 의료기관 연계) 3. 치료 바우처 신청 (관할 행정복지센터) 4. 전문 육아 상담 (육아종합지원센터 활용)</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긍정 양육의 완성</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실수에서 배우며 동행하는 부모의 여정</a:t>
            </a:r>
          </a:p>
        </p:txBody>
      </p:sp>
      <p:sp>
        <p:nvSpPr>
          <p:cNvPr id="3" name="Content Placeholder 2"/>
          <p:cNvSpPr>
            <a:spLocks noGrp="1"/>
          </p:cNvSpPr>
          <p:nvPr>
            <p:ph idx="1"/>
          </p:nvPr>
        </p:nvSpPr>
        <p:spPr/>
        <p:txBody>
          <a:bodyPr/>
          <a:lstStyle/>
          <a:p>
            <a:pPr lvl="0"/>
            <a:r>
              <a:rPr/>
              <a:t>아이의 실수를 배움의 과정으로 이해하고 지금 당장의 순응보다 아이가 성인이 되었을 때 갖길 바라는 가치를 가르치는 데 집중해야 함</a:t>
            </a:r>
          </a:p>
          <a:p>
            <a:pPr lvl="0"/>
            <a:r>
              <a:rPr/>
              <a:t>완벽한 부모가 되려 하기보다 자신의 실수를 인정하고 사과하는 모습을 보임으로써 아이에게 진심 어린 관계 맺기와 문제 해결법을 가르침</a:t>
            </a:r>
          </a:p>
          <a:p>
            <a:pPr lvl="0"/>
            <a:r>
              <a:rPr/>
              <a:t>부모의 감정 조절이 훈육의 시작임을 명심하고 화가 날 때는 숫자를 세거나 잠시 자리를 피해 마음을 가라앉히는 모범을 보임</a:t>
            </a:r>
          </a:p>
          <a:p>
            <a:pPr lvl="0"/>
            <a:r>
              <a:rPr/>
              <a:t>아이의 존엄성을 존중하는 비폭력 양육을 일관되게 실천하여 아이의 자존감을 높이고 상호 신뢰하는 행복한 가정 공동체를 구축함</a:t>
            </a:r>
          </a:p>
          <a:p>
            <a:pPr lvl="0"/>
            <a:r>
              <a:rPr/>
              <a:t>긍정 양육은 목적지가 아닌 긴 여정이며 매 순간 아이의 눈으로 세상을 보려 노력하는 태도가 훌륭한 부모로 성장하는 핵심임</a:t>
            </a:r>
          </a:p>
          <a:p>
            <a:pPr lvl="0" indent="0" marL="0">
              <a:buNone/>
            </a:pPr>
            <a:r>
              <a:rPr b="1"/>
              <a:t>[긍정 양육 핵심 원리 요약]</a:t>
            </a:r>
            <a:r>
              <a:rPr/>
              <a:t> [장기적 목표 기억하기] ↑ [따뜻함 제공] + [구조화 제공] ↑ [아이의 관점에서 생각하기] ↑ [긍정적 문제 해결]</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2025-12-24T06:32:17Z</dcterms:created>
  <dcterms:modified xsi:type="dcterms:W3CDTF">2025-12-24T06:32:17Z</dcterms:modified>
</cp:coreProperties>
</file>

<file path=docProps/custom.xml><?xml version="1.0" encoding="utf-8"?>
<Properties xmlns="http://schemas.openxmlformats.org/officeDocument/2006/custom-properties" xmlns:vt="http://schemas.openxmlformats.org/officeDocument/2006/docPropsVTypes"/>
</file>