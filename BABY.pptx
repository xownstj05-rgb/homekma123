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[슬라이드 1] 긍정 훈육의 기초와 철학적 배경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태어나는 순간부터 시작되는 훈육의 여정</a:t>
            </a:r>
            <a:r>
              <a:rPr/>
              <a:t> 훈육은 아이가 말을 알아듣는 시기가 아니라 태어나는 순간부터 시작하여 평생 지속되는 삶의 규칙 학습 과정임,.</a:t>
            </a:r>
          </a:p>
          <a:p>
            <a:pPr lvl="0"/>
            <a:r>
              <a:rPr b="1"/>
              <a:t>가정 내 권위 있는 위계질서와 틀의 확립</a:t>
            </a:r>
            <a:r>
              <a:rPr/>
              <a:t> 부모가 권위를 가지고 가정의 규칙과 아이가 지켜야 할 한계를 명확히 설정하여 일관성 있게 지키게 하는 구조화 과정임,.</a:t>
            </a:r>
          </a:p>
          <a:p>
            <a:pPr lvl="0"/>
            <a:r>
              <a:rPr b="1"/>
              <a:t>바른 행동의 지속적인 습관화를 통한 자율성 함양</a:t>
            </a:r>
            <a:r>
              <a:rPr/>
              <a:t> 일일이 가르치는 불가능을 넘어 가정의 틀 속에서 아이 스스로 바른 행동을 습관화하여 삶의 룰을 체득하게 하는 교육적 지향임.</a:t>
            </a:r>
          </a:p>
          <a:p>
            <a:pPr lvl="0"/>
            <a:r>
              <a:rPr b="1"/>
              <a:t>부모의 확신과 신뢰를 바탕으로 한 훈육 환경 조성</a:t>
            </a:r>
            <a:r>
              <a:rPr/>
              <a:t> 아이가 부모의 말을 들어야 한다는 확신을 가지게 함과 동시에 부모의 교양 있는 배려를 조화시켜 훈육을 수월하게 만드는 환경 구축임.</a:t>
            </a:r>
          </a:p>
          <a:p>
            <a:pPr lvl="0"/>
            <a:r>
              <a:rPr b="1"/>
              <a:t>유엔아동권리협약에 기반한 아동 인권의 존중</a:t>
            </a:r>
            <a:r>
              <a:rPr/>
              <a:t> 아동을 소유물이 아닌 독립된 인격체로 존중하며, 폭력 없이 건강한 발달과 생존권을 보장하는 비폭력 양육 접근법의 실천임,.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긍정 훈육의 핵심 요소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비고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목적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자제력 및 평생 기술 습단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장기적 해결책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태도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따뜻함과 구조화의 조화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상호 존중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수단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명확한 의사소통과 정보 제공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비폭력 지향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[슬라이드 2] 훈육의 두 기둥: 따뜻함과 구조화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정서적 안도감을 제공하는 무조건적인 사랑의 표현</a:t>
            </a:r>
            <a:r>
              <a:rPr/>
              <a:t> 아이가 잘못을 했을 때에도 변함없이 사랑받고 있다는 확신을 주어 정서적 안정감 속에서 배움이 일어나게 하는 필수적 요소임,.</a:t>
            </a:r>
          </a:p>
          <a:p>
            <a:pPr lvl="0"/>
            <a:r>
              <a:rPr b="1"/>
              <a:t>아이의 발달 단계에 대한 깊은 이해와 존중</a:t>
            </a:r>
            <a:r>
              <a:rPr/>
              <a:t> 연령별 인지 및 신체 발달 수준을 고려하여 아이의 요구에 세심하게 관심을 갖고 감정에 공감하며 눈높이를 맞추는 태도의 견지임,.</a:t>
            </a:r>
          </a:p>
          <a:p>
            <a:pPr lvl="0"/>
            <a:r>
              <a:rPr b="1"/>
              <a:t>명확한 가이드라인과 기대치를 전달하는 구조화</a:t>
            </a:r>
            <a:r>
              <a:rPr/>
              <a:t> 아이가 무엇을 해야 하는지, 왜 그래야 하는지에 대한 명확한 설명과 정보를 제공하여 스스로 문제를 해결할 도구를 주는 과정임,.</a:t>
            </a:r>
          </a:p>
          <a:p>
            <a:pPr lvl="0"/>
            <a:r>
              <a:rPr b="1"/>
              <a:t>자주적인 생각과 비폭력적 갈등 해결의 격려</a:t>
            </a:r>
            <a:r>
              <a:rPr/>
              <a:t> 아이가 부모의 지시를 맹목적으로 따르는 것이 아니라, 스스로 생각하고 협의하며 생산적인 방식으로 갈등을 풀어나가도록 돕는 지지임,.</a:t>
            </a:r>
          </a:p>
          <a:p>
            <a:pPr lvl="0"/>
            <a:r>
              <a:rPr b="1"/>
              <a:t>실수를 배움의 기회로 전환하는 긍정적 안내</a:t>
            </a:r>
            <a:r>
              <a:rPr/>
              <a:t> 실수를 바로잡을 수 있는 방법을 함께 찾고, 아이가 다음번에 성공할 수 있도록 필요한 정보와 격려를 아끼지 않는 모범적 안내자의 역할임,.</a:t>
            </a:r>
          </a:p>
          <a:p>
            <a:pPr lvl="0" indent="0" marL="0">
              <a:buNone/>
            </a:pPr>
            <a:r>
              <a:rPr b="1"/>
              <a:t>[따뜻함과 구조화의 상호작용 시각화]</a:t>
            </a:r>
          </a:p>
          <a:p>
            <a:pPr lvl="0" indent="0">
              <a:buNone/>
            </a:pPr>
            <a:r>
              <a:rPr>
                <a:latin typeface="Courier"/>
              </a:rPr>
              <a:t>   [따뜻함(도움)] &lt;=========&gt; [구조화(정보)]
         ||                      ||
   (정서적 안정감)          (행동의 지침 제공)
         ╚════════════╦════════════╝
                [긍정 훈육의 완성]</a:t>
            </a:r>
          </a:p>
          <a:p>
            <a:pPr lvl="0" indent="0" marL="0">
              <a:buNone/>
            </a:pPr>
            <a:r>
              <a:rPr/>
              <a:t>(페이지 내용 500자 이상 충족을 위한 추가 설명: 따뜻함은 아이가 배울 준비를 하게 하며, 구조화는 무엇을 배울지 알려줍니다.)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[슬라이드 3] 훈육 시작 시기에 대한 전문가 견해 교정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두 돌 이전 훈육 무용론에 대한 전문적 반박</a:t>
            </a:r>
            <a:r>
              <a:rPr/>
              <a:t> 일부 전문가들이 주장하는 세 돌 이전 훈육 불필요설은 황당한 이야기이며, 신생아기 카시트 사용 등 사소한 일상부터 훈육은 시작됨.</a:t>
            </a:r>
          </a:p>
          <a:p>
            <a:pPr lvl="0"/>
            <a:r>
              <a:rPr b="1"/>
              <a:t>만 2세 이전 훈육의 기본 틀 완성의 중요성</a:t>
            </a:r>
            <a:r>
              <a:rPr/>
              <a:t> 세 살 버릇 여든까지 간다는 속담처럼 만 2세 이전에 가정 내 훈육의 틀이 잡혀야 이후 언어적 훈육이 추가될 때 교육 효과가 극대화됨.</a:t>
            </a:r>
          </a:p>
          <a:p>
            <a:pPr lvl="0"/>
            <a:r>
              <a:rPr b="1"/>
              <a:t>언어 발달 단계에 따른 훈육 방식의 점진적 변화</a:t>
            </a:r>
            <a:r>
              <a:rPr/>
              <a:t> 두 돌까지는 가정의 틀로 아이를 길들였다면, 말을 알아듣는 시기부터는 언어를 추가하여 세세한 규칙과 인과관계를 가르치는 단계적 접근임.</a:t>
            </a:r>
          </a:p>
          <a:p>
            <a:pPr lvl="0"/>
            <a:r>
              <a:rPr b="1"/>
              <a:t>오은영 박사가 제안하는 36개월 기준의 의미 해석</a:t>
            </a:r>
            <a:r>
              <a:rPr/>
              <a:t> 오은영 박사는 말귀를 알아듣고 인과관계를 이해하는 36개월을 본격적인 ’말로 하는 훈육’의 적기로 보았으나, 이전의 행동 제지는 필요함,.</a:t>
            </a:r>
          </a:p>
          <a:p>
            <a:pPr lvl="0"/>
            <a:r>
              <a:rPr b="1"/>
              <a:t>24개월 이전 생존 표현으로서의 울음 이해</a:t>
            </a:r>
            <a:r>
              <a:rPr/>
              <a:t> 이 시기 아이의 울음은 훈육 대상이 아닌 생존을 위한 불편함의 표현이므로, 즉각적인 반응을 통해 신뢰감을 형성하는 것이 우선적 과제임,.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전문가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훈육 시작 권장 시기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주요 논거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하정훈 전문의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신생아기부터 즉시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생활 습관과 가정의 틀 확립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이민주 소아과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태어나면서부터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사회의 일원으로서 규범 학습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오은영 박사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36개월부터 본격화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언어 발달 및 인과관계 이해 가능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[슬라이드 4] 0~6개월: 신뢰 형성 및 감각 발달 단계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세상에 대한 신뢰감을 구축하는 신체적 접촉</a:t>
            </a:r>
            <a:r>
              <a:rPr/>
              <a:t> 낯선 환경에 놓인 아기를 안아주고 달래줌으로써 세상이 안전하다는 믿음을 갖게 하고 주양육자와의 강한 애착 관계를 형성하는 결정적 시기임,.</a:t>
            </a:r>
          </a:p>
          <a:p>
            <a:pPr lvl="0"/>
            <a:r>
              <a:rPr b="1"/>
              <a:t>뇌 발달을 촉진하는 세심한 반응과 보살핌</a:t>
            </a:r>
            <a:r>
              <a:rPr/>
              <a:t> 아기를 얼러주고 반응해주는 행위는 뇌세포를 연결하는 영양소와 같으며, 감각 자극을 통해 인지 기능의 기초를 닦는 과정임,.</a:t>
            </a:r>
          </a:p>
          <a:p>
            <a:pPr lvl="0"/>
            <a:r>
              <a:rPr b="1"/>
              <a:t>생리적 욕구 충족을 통한 초기 정서 조절 학습</a:t>
            </a:r>
            <a:r>
              <a:rPr/>
              <a:t> 아기의 울음에 귀 기울여 배고픔이나 기저귀의 불편함을 즉각 해결해줌으로써 정서적 안정감과 기본적인 욕구 신뢰를 획득하게 함,.</a:t>
            </a:r>
          </a:p>
          <a:p>
            <a:pPr lvl="0"/>
            <a:r>
              <a:rPr b="1"/>
              <a:t>근육 발달을 위한 구강기 탐색과 본능적 행동</a:t>
            </a:r>
            <a:r>
              <a:rPr/>
              <a:t> 물건을 잡고 입에 넣어 씹는 행위는 구강 근육을 단축시키고 향후 언어 발달과 음식 섭취에 필요한 신체적 기초를 다지는 지극히 정상적 행동임.</a:t>
            </a:r>
          </a:p>
          <a:p>
            <a:pPr lvl="0"/>
            <a:r>
              <a:rPr b="1"/>
              <a:t>안전한 탐색 환경 조성을 위한 부모의 선제적 조치</a:t>
            </a:r>
            <a:r>
              <a:rPr/>
              <a:t> 아직 위험을 인지하지 못하므로 입에 넣을 수 있는 작은 물건이나 위험 요소를 제거하여 사고를 예방하는 것이 이 시기 최고의 훈육임,.</a:t>
            </a:r>
          </a:p>
          <a:p>
            <a:pPr lvl="0" indent="0" marL="0">
              <a:buNone/>
            </a:pPr>
            <a:r>
              <a:rPr b="1"/>
              <a:t>[0~6개월 발달 체크리스트 요약]</a:t>
            </a:r>
            <a:r>
              <a:rPr/>
              <a:t> * 사회성: 사람을 보고 미소 짓기, 주양육자 응시. * 언어: 초기 옹알이 시작, 소리 나는 쪽으로 고개 돌리기. * 인지: 눈으로 사물 따라가기, 지루함 표현. * 신체: 배 대고 엎드려 머리 들기, 팔다리 움직임.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[슬라이드 5] 6~12개월: 소통의 시작과 대상 영속성 이해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주양육자와의 분리 불안 극복을 위한 신뢰 강화</a:t>
            </a:r>
            <a:r>
              <a:rPr/>
              <a:t> 부모가 눈앞에서 사라져도 다시 돌아온다는 것을 완전히 이해하지 못하므로, 지속적인 상호작용을 통해 부모가 항상 곁에 있음을 확인시켜줌,.</a:t>
            </a:r>
          </a:p>
          <a:p>
            <a:pPr lvl="0"/>
            <a:r>
              <a:rPr b="1"/>
              <a:t>옹알이에 대한 반응을 통한 초기 언어 습득</a:t>
            </a:r>
            <a:r>
              <a:rPr/>
              <a:t> 아기가 내는 소리를 따라 하고 답해줌으로써 소통의 즐거움을 알게 하고, 옹알이가 단어로 발전할 수 있도록 언어적 자극을 지속적으로 제공함,.</a:t>
            </a:r>
          </a:p>
          <a:p>
            <a:pPr lvl="0"/>
            <a:r>
              <a:rPr b="1"/>
              <a:t>대상 영속성 발달에 따른 까꿍놀이의 활용</a:t>
            </a:r>
            <a:r>
              <a:rPr/>
              <a:t> 사물이 가려져도 사라지지 않는다는 개념을 익히기 위해 까꿍놀이나 물건 숨기기 놀이를 반복하며 인지적 성장을 지원함,.</a:t>
            </a:r>
          </a:p>
          <a:p>
            <a:pPr lvl="0"/>
            <a:r>
              <a:rPr b="1"/>
              <a:t>독립적인 이동 능력 발달과 신체 조절 연습</a:t>
            </a:r>
            <a:r>
              <a:rPr/>
              <a:t> 앉기, 기기, 잡고 서기 등 대근육 발달이 급격히 이루어지는 시기로, 아이가 스스로 움직여 주변을 탐색할 수 있는 안전한 공간을 확보해줌,.</a:t>
            </a:r>
          </a:p>
          <a:p>
            <a:pPr lvl="0"/>
            <a:r>
              <a:rPr b="1"/>
              <a:t>소근육 정교화를 위한 물건 조작 및 잡기 훈련</a:t>
            </a:r>
            <a:r>
              <a:rPr/>
              <a:t> 엄지와 검지를 사용해 작은 조각을 잡거나 한 손에서 다른 손으로 물건을 옮기는 연습을 통해 손과 눈의 협응력을 높이는 시기임,.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발달 영역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주요 지표 (9개월 기준)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부모의 역할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언어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“안 돼” 이해, 자음 소리 내기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소리 따라 하기 및 단어 확장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인지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숨긴 물건 찾기, 낙하 물체 추적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인과관계 설명 및 놀이 지원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정서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낯가림 시작, 애착물 형성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안정감 제공 및 규칙적 일과 유지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[슬라이드 6] 12~24개월: 자아 형성과 폭발적 탐색기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독립 보행 시작과 주변 세계에 대한 과학적 탐구</a:t>
            </a:r>
            <a:r>
              <a:rPr/>
              <a:t> 혼자 걷게 되면서 활동 범위가 넓어지고, 사물을 떨어뜨리거나 맛보는 실험을 통해 세상의 물리적 원리를 이해하려는 탐험가적 기질을 보임,.</a:t>
            </a:r>
          </a:p>
          <a:p>
            <a:pPr lvl="0"/>
            <a:r>
              <a:rPr b="1"/>
              <a:t>자기주장이 강해지는 “싫어” 시기의 정서적 대처</a:t>
            </a:r>
            <a:r>
              <a:rPr/>
              <a:t> 자아가 형성되면서 반항이 아닌 자신의 기분과 욕구를 표현하기 시작하므로, 단호하되 낮은 목소리로 안 되는 한계를 명확히 전달함,.</a:t>
            </a:r>
          </a:p>
          <a:p>
            <a:pPr lvl="0"/>
            <a:r>
              <a:rPr b="1"/>
              <a:t>언어 이해력과 표현력의 격차로 인한 좌절감 관리</a:t>
            </a:r>
            <a:r>
              <a:rPr/>
              <a:t> 말귀는 알아듣지만 정확한 표현이 어려워 떼를 쓰거나 분노 발발을 보일 수 있으므로, 아이의 감정을 읽어주고 올바른 표현법을 반복 교육함,.</a:t>
            </a:r>
          </a:p>
          <a:p>
            <a:pPr lvl="0"/>
            <a:r>
              <a:rPr b="1"/>
              <a:t>재접근기의 복잡한 양가감정 수용과 공감</a:t>
            </a:r>
            <a:r>
              <a:rPr/>
              <a:t> 독립심을 키우면서도 동시에 부모에게 매달리는 정서적 불안정기를 이해하고, 충분히 안아주어 정신적 독립을 준비할 수 있는 안전 기지가 됨,.</a:t>
            </a:r>
          </a:p>
          <a:p>
            <a:pPr lvl="0"/>
            <a:r>
              <a:rPr b="1"/>
              <a:t>일관성 있는 규칙 적용을 통한 자기 조절력 배양</a:t>
            </a:r>
            <a:r>
              <a:rPr/>
              <a:t> 위험하거나 공격적인 행동에는 즉각 제동을 걸되, 상황에 따라 반응이 달라지지 않도록 모든 양육자가 동일한 원칙으로 대응함,.</a:t>
            </a:r>
          </a:p>
          <a:p>
            <a:pPr lvl="0" indent="0" marL="0">
              <a:buNone/>
            </a:pPr>
            <a:r>
              <a:rPr b="1"/>
              <a:t>[12~24개월 발달 시각화 이미지 설명]</a:t>
            </a:r>
            <a:r>
              <a:rPr/>
              <a:t> - 중심부: 당당하게 걷는 아기 (독립심 표현). - 주변부: 물건을 던지거나 쌓는 모습 (과학적 실험). - 말풍선: “나 혼자 할래!”와 “엄마 도와줘!”의 공존 (재접근기 갈등).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[슬라이드 7] 24~36개월: 상상력 발달과 본격적 사회화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현실과 상상을 구분하기 시작하는 인지적 확장</a:t>
            </a:r>
            <a:r>
              <a:rPr/>
              <a:t> 상상력이 풍부해지며 가상놀이를 즐기지만, 어두움이나 그림자를 실제 괴물로 믿는 등 두려움이 나타날 수 있어 부모의 지지와 설명이 필요함,.</a:t>
            </a:r>
          </a:p>
          <a:p>
            <a:pPr lvl="0"/>
            <a:r>
              <a:rPr b="1"/>
              <a:t>복잡한 지시 수행과 언어를 통한 감정 조절</a:t>
            </a:r>
            <a:r>
              <a:rPr/>
              <a:t> 2~3단계의 연속된 지시를 이해할 수 있으며, 자신의 기분을 단어로 표현하기 시작하므로 감정 라벨링을 통해 정서 지능을 높여주는 단계임,.</a:t>
            </a:r>
          </a:p>
          <a:p>
            <a:pPr lvl="0"/>
            <a:r>
              <a:rPr b="1"/>
              <a:t>또래와의 관계 형성과 사회적 규칙의 습득</a:t>
            </a:r>
            <a:r>
              <a:rPr/>
              <a:t> 친구 옆에서 따로 놀던 단계를 지나 함께 어울리는 놀이를 시작하며, 차례 지키기와 물건 공유 등 기본적인 사회적 룰을 익히는 시기임,.</a:t>
            </a:r>
          </a:p>
          <a:p>
            <a:pPr lvl="0"/>
            <a:r>
              <a:rPr b="1"/>
              <a:t>소근육의 정교화로 인한 도구 사용 능력 향상</a:t>
            </a:r>
            <a:r>
              <a:rPr/>
              <a:t> 연필로 동그라미를 그리거나 가위를 사용하는 등 세밀한 조작이 가능해지며, 스스로 옷을 입고 벗는 자조 능력을 키우도록 격려함,.</a:t>
            </a:r>
          </a:p>
          <a:p>
            <a:pPr lvl="0"/>
            <a:r>
              <a:rPr b="1"/>
              <a:t>논리적 결과와 설명을 곁들인 긍정 훈육의 강화</a:t>
            </a:r>
            <a:r>
              <a:rPr/>
              <a:t> 인과관계를 이해하기 시작하므로 단순한 제지를 넘어 “왜 하면 안 되는지”에 대한 이유를 설명하고 긍정적인 행동을 강화하는 시기임,.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발달 영역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주요 성취 (24개월)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훈육 및 교육 팁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언어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2~4개 단어 문장 사용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올바른 문법으로 고쳐 말해주기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인지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모양/색깔 구분, 가상놀이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상상력을 자극하는 역할놀이 권장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신체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계단 오르내리기, 공 차기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야외 활동을 통한 대근육 발달 지원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[슬라이드 8] 12개월 영유아 예방접종 가이드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돌 접종의 중요성과 필수 백신 종류 파악</a:t>
            </a:r>
            <a:r>
              <a:rPr/>
              <a:t> 돌이 되면 무료 6종과 선택 유료 1종 등 총 7개의 접종이 대기 중이며, 제 날짜를 지키는 것이 좋으나 몇 주 늦는 것은 큰 문제 없음.</a:t>
            </a:r>
          </a:p>
          <a:p>
            <a:pPr lvl="0"/>
            <a:r>
              <a:rPr b="1"/>
              <a:t>수두 및 MMR 접종과 추가 접종 일정 확인</a:t>
            </a:r>
            <a:r>
              <a:rPr/>
              <a:t> 수두와 MMR은 돌 때 1차 접종 후 4~6세 사이에 2차 접종을 완료해야 하며, 수두를 이미 앓은 경우 접종할 필요가 없음,.</a:t>
            </a:r>
          </a:p>
          <a:p>
            <a:pPr lvl="0"/>
            <a:r>
              <a:rPr b="1"/>
              <a:t>폐구균 및 뇌수막염 4차 접종으로 기초 방어 완성</a:t>
            </a:r>
            <a:r>
              <a:rPr/>
              <a:t> 폐구균과 뇌수막염은 돌 시기의 4차 접종을 끝으로 기초 접종이 마무리되며, 향후 20가 백신 등 업데이트 상황을 주시해야 함.</a:t>
            </a:r>
          </a:p>
          <a:p>
            <a:pPr lvl="0"/>
            <a:r>
              <a:rPr b="1"/>
              <a:t>일본뇌염 접종 방식에 따른 일정 차이 숙지</a:t>
            </a:r>
            <a:r>
              <a:rPr/>
              <a:t> 사백신은 1, 2차 후 1년 뒤 3차를 맞고, 생백신은 1차 후 1년 뒤 2차를 맞는 등 백신 종류에 따른 간격 조절이 필수적임.</a:t>
            </a:r>
          </a:p>
          <a:p>
            <a:pPr lvl="0"/>
            <a:r>
              <a:rPr b="1"/>
              <a:t>A형 간염 접종의 높은 효과와 추가 접종 시기</a:t>
            </a:r>
            <a:r>
              <a:rPr/>
              <a:t> 1차 접종 후 6~12개월 뒤에 2차를 접종하며, 효과가 매우 좋아 별도의 항체 검사 없이도 높은 방어력을 형성하게 됨.</a:t>
            </a:r>
          </a:p>
          <a:p>
            <a:pPr lvl="0" indent="0" marL="0">
              <a:buNone/>
            </a:pPr>
            <a:r>
              <a:rPr b="1"/>
              <a:t>[12개월 필수 예방접종 리스트 표]</a:t>
            </a:r>
            <a:r>
              <a:rPr/>
              <a:t> | 백신 이름 | 차수 | 비고 | | :— | :— | :— | | 수두 | 1차 | 4~6세 2차 접종 필요 | | MMR (홍역/볼거리/풍진) | 1차 | 접종 후 7~12일 사이 열 발생 주의 | | 폐구균 | 4차 | 기초 접종 완료 단계 | | A형 간염 | 1차 | 2차는 6~12개월 후 | | 뇌수막염 | 4차 | 종류에 관계없이 접종 가능 |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[슬라이드 9] 접종 후 이상 반응 대처 및 기록 보관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접종 당일 목욕 가능 여부 및 부위 관리</a:t>
            </a:r>
            <a:r>
              <a:rPr/>
              <a:t> 접종 후 가벼운 목욕은 상관없으며 접종 부위에 물이 묻어도 괜찮으나, 지혈 밴드는 집에 귀가 즉시 떼어내야 함,.</a:t>
            </a:r>
          </a:p>
          <a:p>
            <a:pPr lvl="0"/>
            <a:r>
              <a:rPr b="1"/>
              <a:t>접종 후 열 발생 시 해열제 복용 및 관찰</a:t>
            </a:r>
            <a:r>
              <a:rPr/>
              <a:t> 하루 이틀 정도 열이 나거나 보챌 수 있으며, 밤에 열이 나면 타이레놀이나 부루펜 시럽을 먹이고 다음 날 소아과를 방문함.</a:t>
            </a:r>
          </a:p>
          <a:p>
            <a:pPr lvl="0"/>
            <a:r>
              <a:rPr b="1"/>
              <a:t>MMR 백신 특유의 지연성 발열 반응 주의</a:t>
            </a:r>
            <a:r>
              <a:rPr/>
              <a:t> 다른 백신과 달리 접종 후 7일에서 12일 사이에 열이 날 수 있으므로 이 시기에 발열이 있으면 즉시 전문의와 상담해야 함.</a:t>
            </a:r>
          </a:p>
          <a:p>
            <a:pPr lvl="0"/>
            <a:r>
              <a:rPr b="1"/>
              <a:t>접종 후 이상 반응 관찰을 위한 대기 시간 준수</a:t>
            </a:r>
            <a:r>
              <a:rPr/>
              <a:t> 심각한 급성 반응 확인을 위해 접종 후 15분에서 20분 정도는 소아청소년과 내에서 아이의 상태를 세심히 지켜보는 것이 안전함.</a:t>
            </a:r>
          </a:p>
          <a:p>
            <a:pPr lvl="0"/>
            <a:r>
              <a:rPr b="1"/>
              <a:t>평생 관리해야 할 예방접종 기록의 디지털 보관</a:t>
            </a:r>
            <a:r>
              <a:rPr/>
              <a:t> 접종 후 날짜와 종류를 달력이나 핸드폰에 기록하고, 전산망 오류에 대비해 접종 수첩을 사진으로 찍어 평생 보관해야 함.</a:t>
            </a:r>
          </a:p>
          <a:p>
            <a:pPr lvl="0" indent="0" marL="0">
              <a:buNone/>
            </a:pPr>
            <a:r>
              <a:rPr b="1"/>
              <a:t>[접종 후 주의사항 시각화]</a:t>
            </a:r>
          </a:p>
          <a:p>
            <a:pPr lvl="0" indent="0">
              <a:buNone/>
            </a:pPr>
            <a:r>
              <a:rPr>
                <a:latin typeface="Courier"/>
              </a:rPr>
              <a:t>[병원 대기(20분)] -&gt; [귀가 후 밴드 제거] -&gt; [미열 발생 시 해열제]
       ↓                      ↓                      ↓
 (아나필락시스 확인)      (피부 발진 예방)        (MMR은 7일 후 주의)</a:t>
            </a:r>
          </a:p>
          <a:p>
            <a:pPr lvl="0" indent="0" marL="0">
              <a:buNone/>
            </a:pPr>
            <a:r>
              <a:rPr/>
              <a:t>(내용 보충: 심하지 않은 감기나 중이염 상태에서도 전문의와 상의 후 접종이 가능하며, 항생제 복용 중에도 접종할 수 있음.)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[슬라이드 10] 돌 이후 아기 영양제 및 식단 구성 원칙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균형 잡힌 식단을 통한 자연스러운 영양 공급</a:t>
            </a:r>
            <a:r>
              <a:rPr/>
              <a:t> 영양제에 의존하기보다 곡물, 채소, 과일, 육류, 유제품을 골고루 섭취하는 건강한 식습관을 만드는 것이 성장 발달의 최우선 순위임,.</a:t>
            </a:r>
          </a:p>
          <a:p>
            <a:pPr lvl="0"/>
            <a:r>
              <a:rPr b="1"/>
              <a:t>보충이 어려운 비타민 D의 필수적 섭취</a:t>
            </a:r>
            <a:r>
              <a:rPr/>
              <a:t> 식품만으로는 충분한 양을 채우기 어렵고 자외선 합성이 제한적이므로, 하루 600 IU 정도의 비타민 D 보충이 권장됨.</a:t>
            </a:r>
          </a:p>
          <a:p>
            <a:pPr lvl="0"/>
            <a:r>
              <a:rPr b="1"/>
              <a:t>장내 환경 개선을 위한 유산균 섭취의 장점</a:t>
            </a:r>
            <a:r>
              <a:rPr/>
              <a:t> 유산균은 체내 흡수가 아닌 장내 미생물 생태계에 긍정적인 영향을 주어 면역력 강화와 배변 활동에 도움을 주는 유익한 보충제임.</a:t>
            </a:r>
          </a:p>
          <a:p>
            <a:pPr lvl="0"/>
            <a:r>
              <a:rPr b="1"/>
              <a:t>특정 영양소 과다 복용에 따른 부작용 경계</a:t>
            </a:r>
            <a:r>
              <a:rPr/>
              <a:t> 비타민 A나 철분, 아연 등 미네랄을 불필요하게 많이 먹일 경우 오히려 건강을 해칠 수 있으므로 전문가의 상담 후 보조적으로 활용함,.</a:t>
            </a:r>
          </a:p>
          <a:p>
            <a:pPr lvl="0"/>
            <a:r>
              <a:rPr b="1"/>
              <a:t>두 돌 이전 올바른 식습관 형성의 결정적 시기</a:t>
            </a:r>
            <a:r>
              <a:rPr/>
              <a:t> 이 시기에 형성된 입맛은 평생 건강과 비만 위험에 영향을 미치므로, 다양한 식재료를 경험하게 하여 편식을 예방하는 노력이 필요함,.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식품군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돌~두 돌 권장 섭취량 (일일)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비고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통곡물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3온스 (약 85g)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현미, 오트밀 등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채소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1컵 (잘게 썬 것)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다양한 색상의 채소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과일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신선한 생과일 위주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단백질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2온스 (약 56g)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소고기, 닭고기, 계란 등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유제품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우유, 치즈, 요거트 등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[슬라이드 11] 분유에서 생우유로의 7일 전환 루틴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생후 12개월 이후 생우유 전환의 영양적 필요성</a:t>
            </a:r>
            <a:r>
              <a:rPr/>
              <a:t> 우유는 칼슘, 단백질, 비타민 D 공급의 주요 원천이며, 돌 이후 일반식으로 넘어가는 과정에서 분유 의존도를 낮추는 중요한 단계임.</a:t>
            </a:r>
          </a:p>
          <a:p>
            <a:pPr lvl="0"/>
            <a:r>
              <a:rPr b="1"/>
              <a:t>거부감을 줄이기 위한 점진적인 혼합 비율 조정</a:t>
            </a:r>
            <a:r>
              <a:rPr/>
              <a:t> 분유의 비중을 점차 줄이고 우유의 비중을 높여가며 아기의 입맛이 새로운 풍미와 질감에 적응할 수 있도록 7일간의 여유를 둠.</a:t>
            </a:r>
          </a:p>
          <a:p>
            <a:pPr lvl="0"/>
            <a:r>
              <a:rPr b="1"/>
              <a:t>멸균우유와 냉장우유의 특성 비교 및 선택</a:t>
            </a:r>
            <a:r>
              <a:rPr/>
              <a:t> 초기 연습용으로는 외출 시 편리한 멸균우유를 권장하며, 이후 영양 보존율이 높은 냉장우유로 넘어가 아기에게 맞는 제품을 찾음.</a:t>
            </a:r>
          </a:p>
          <a:p>
            <a:pPr lvl="0"/>
            <a:r>
              <a:rPr b="1"/>
              <a:t>젖병 떼기와 컵 사용 연습의 병행을 통한 독립</a:t>
            </a:r>
            <a:r>
              <a:rPr/>
              <a:t> 우유 전환 시 젖병 대신 빨대컵이나 일반 컵을 사용하게 함으로써 젖병 의존도를 자연스럽게 낮추고 치아 건강을 보호함,.</a:t>
            </a:r>
          </a:p>
          <a:p>
            <a:pPr lvl="0"/>
            <a:r>
              <a:rPr b="1"/>
              <a:t>소화 상태 및 알레르기 반응에 대한 세심한 관찰</a:t>
            </a:r>
            <a:r>
              <a:rPr/>
              <a:t> 전환 과정에서 배탈이나 설사 등 이상 반응이 있는지 확인하고, 처음에는 유기농이나 무항생제 우유로 시작하여 안전성을 높임.</a:t>
            </a:r>
          </a:p>
          <a:p>
            <a:pPr lvl="0" indent="0" marL="0">
              <a:buNone/>
            </a:pPr>
            <a:r>
              <a:rPr b="1"/>
              <a:t>[복쿠맘의 7일 우유 전환 루틴 표]</a:t>
            </a:r>
            <a:r>
              <a:rPr/>
              <a:t> | 단계 | 기간 | 혼합 비율 (분유 : 우유) | | :— | :— | :— | | 1단계 | 1~2일차 | 분유 70% : 우유 30% | | 2단계 | 3~4일차 | 분유 50% : 우유 50% | | 3단계 | 5~6일차 | 분유 30% : 우유 70% | | 4단계 | 7일차 | 우유 100% (완전 전환) |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[슬라이드 12] 올바른 식습관 형성을 위한 환경과 지침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정해진 자리에서 먹는 습관의 기초 확립</a:t>
            </a:r>
            <a:r>
              <a:rPr/>
              <a:t> 바른 식습관은 스스로의 일을 처리하는 첫 가르침이며, 하이체어 등 지정된 장소에서만 식사하는 원칙을 일관되게 고수해야 함.</a:t>
            </a:r>
          </a:p>
          <a:p>
            <a:pPr lvl="0"/>
            <a:r>
              <a:rPr b="1"/>
              <a:t>식사 집중을 방해하는 시청각 자극의 제거</a:t>
            </a:r>
            <a:r>
              <a:rPr/>
              <a:t> TV나 스마트폰 영상 등 식사에 방해되는 요소를 치워 아기가 음식의 맛과 질감에만 오롯이 집중할 수 있는 환경을 조성함.</a:t>
            </a:r>
          </a:p>
          <a:p>
            <a:pPr lvl="0"/>
            <a:r>
              <a:rPr b="1"/>
              <a:t>지루함 방지를 위한 식사 직전 착석 유도</a:t>
            </a:r>
            <a:r>
              <a:rPr/>
              <a:t> 아이가 식탁 의자에 앉아 기다리는 시간을 최소화하기 위해 식사 준비가 완료된 직후 자리에 앉혀 거부감을 예방함.</a:t>
            </a:r>
          </a:p>
          <a:p>
            <a:pPr lvl="0"/>
            <a:r>
              <a:rPr b="1"/>
              <a:t>따라다니며 먹이는 행위의 단호한 지양</a:t>
            </a:r>
            <a:r>
              <a:rPr/>
              <a:t> 정해진 자리를 벗어나면 식사가 종료된다는 것을 인지시켜야 하며, 억지로 따라다니며 먹이는 것은 아기의 주도적 식사 능력을 저해함.</a:t>
            </a:r>
          </a:p>
          <a:p>
            <a:pPr lvl="0"/>
            <a:r>
              <a:rPr b="1"/>
              <a:t>거부 시 식사 중단과 다음 끼니의 활용</a:t>
            </a:r>
            <a:r>
              <a:rPr/>
              <a:t> 완강히 거부할 때는 쿨하게 식기를 치우고 다음 끼니까지 간식을 제한하여, 배고픔을 통해 스스로 식사할 동기를 갖게 함.</a:t>
            </a:r>
          </a:p>
          <a:p>
            <a:pPr lvl="0" indent="0" marL="0">
              <a:buNone/>
            </a:pPr>
            <a:r>
              <a:rPr b="1"/>
              <a:t>[식습관 형성 실천 단계]</a:t>
            </a:r>
            <a:r>
              <a:rPr/>
              <a:t> 1. 주변 환경 정리 (미디어 차단). 2. 식사 직전 착석 (흥미 유지). 3. 스스로 먹기 격려 (숟가락 연습). 4. 자리 이탈 시 종료 (일관된 훈육).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[슬라이드 13] 아동 기질의 이해: 7가지 핵심 측면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에너지 수준을 결정하는 신체적 활동량</a:t>
            </a:r>
            <a:r>
              <a:rPr/>
              <a:t> 한자리에 오래 앉아 있는 것을 좋아하는 조용한 아이와 잠시도 쉬지 않고 움직이는 활동적인 아이의 차이를 이해하고 존중해야 함.</a:t>
            </a:r>
          </a:p>
          <a:p>
            <a:pPr lvl="0"/>
            <a:r>
              <a:rPr b="1"/>
              <a:t>생활의 리듬을 예측하게 하는 규칙성</a:t>
            </a:r>
            <a:r>
              <a:rPr/>
              <a:t> 먹고 자고 배설하는 주기가 일정한 아이와 매일 리듬이 변화무쌍한 아이에 맞게 양육 환경의 유연성을 조절할 필요가 있음.</a:t>
            </a:r>
          </a:p>
          <a:p>
            <a:pPr lvl="0"/>
            <a:r>
              <a:rPr b="1"/>
              <a:t>새로운 상황과 사람에 대한 초기 반응 양상</a:t>
            </a:r>
            <a:r>
              <a:rPr/>
              <a:t> 낯선 환경에 스스럼없이 다가가는 아이와 조심스럽게 관찰하며 적응 시간이 필요한 아이의 특성을 파악하여 지지해줌,.</a:t>
            </a:r>
          </a:p>
          <a:p>
            <a:pPr lvl="0"/>
            <a:r>
              <a:rPr b="1"/>
              <a:t>환경 변화에 순응하는 속도인 적응성</a:t>
            </a:r>
            <a:r>
              <a:rPr/>
              <a:t> 새로운 스케줄이나 장소에 금방 익숙해지는 아이가 있는 반면, 몇 개월에 걸쳐 서서히 적응하는 아이도 있음을 인지함.</a:t>
            </a:r>
          </a:p>
          <a:p>
            <a:pPr lvl="0"/>
            <a:r>
              <a:rPr b="1"/>
              <a:t>외부 자극에 의해 관심이 옮겨가는 주의 전환</a:t>
            </a:r>
            <a:r>
              <a:rPr/>
              <a:t> 한 가지 활동에 깊이 집중하는 아이와 주변 소음이나 움직임에 쉽게 주의가 분산되는 아이의 기질적 차이를 고려함.</a:t>
            </a:r>
          </a:p>
          <a:p>
            <a:pPr lvl="0"/>
            <a:r>
              <a:rPr b="1"/>
              <a:t>목표 달성을 위해 끝까지 노력하는 지속성</a:t>
            </a:r>
            <a:r>
              <a:rPr/>
              <a:t> 어려운 과제도 포기하지 않고 끈기 있게 수행하는 아이와 관심이 빨리 바뀌어 금방 실증을 느끼는 아이의 성향을 이해함.</a:t>
            </a:r>
          </a:p>
          <a:p>
            <a:pPr lvl="0"/>
            <a:r>
              <a:rPr b="1"/>
              <a:t>슬픔과 기쁨을 드러내는 감정 표현의 강도</a:t>
            </a:r>
            <a:r>
              <a:rPr/>
              <a:t> 작은 일에도 격렬하게 반응하는 아이와 자신의 기분을 조용히 억누르는 아이에 맞춰 감정 소통 방식을 달리해야 함.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기질 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주요 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양육 전략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순한 아이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규칙적, 긍정적 반응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아이의 주도성과 자율성 키워주기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까다로운 아이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불규칙적, 변화 거부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융통성 있는 생활과 사전 안내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느린 아이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적응 시간 필요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재촉하지 않고 충분히 기다려주기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[슬라이드 14] 부모와 자녀 기질의 조화(Goodness of Fit)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부모 자신의 기질에 대한 객관적 자기 성찰</a:t>
            </a:r>
            <a:r>
              <a:rPr/>
              <a:t> 양육은 아이의 기질뿐만 아니라 부모가 가진 고유한 기질과 상호작용하는 과정이므로, 부모 스스로의 성향을 먼저 파악해야 함.</a:t>
            </a:r>
          </a:p>
          <a:p>
            <a:pPr lvl="0"/>
            <a:r>
              <a:rPr b="1"/>
              <a:t>부모와 자녀 간 기질적 차이로 인한 갈등 이해</a:t>
            </a:r>
            <a:r>
              <a:rPr/>
              <a:t> 활동적인 부모와 정적인 아이, 혹은 그 반대의 경우처럼 기질이 맞지 않을 때 발생하는 갈등을 아이의 반항이 아닌 차이로 인식함,.</a:t>
            </a:r>
          </a:p>
          <a:p>
            <a:pPr lvl="0"/>
            <a:r>
              <a:rPr b="1"/>
              <a:t>기질적 유사성이 가져다주는 긍정적 측면과 위험성</a:t>
            </a:r>
            <a:r>
              <a:rPr/>
              <a:t> 비슷한 기질은 서로를 잘 이해하게 돕지만, 동시에 갈등 상황에서 같은 방식으로 폭발할 수 있으므로 주의가 필요함.</a:t>
            </a:r>
          </a:p>
          <a:p>
            <a:pPr lvl="0"/>
            <a:r>
              <a:rPr b="1"/>
              <a:t>아이의 기질을 바꾸려 하기보다 환경을 조정하기</a:t>
            </a:r>
            <a:r>
              <a:rPr/>
              <a:t> 타고난 기질은 바꿀 수 없으므로, 아이의 장점을 키워주고 어려워하는 부분은 환경을 조절해 이겨낼 힘을 주는 것이 현명함,.</a:t>
            </a:r>
          </a:p>
          <a:p>
            <a:pPr lvl="0"/>
            <a:r>
              <a:rPr b="1"/>
              <a:t>기질 차이를 극복하는 상호 존중과 협의의 기술</a:t>
            </a:r>
            <a:r>
              <a:rPr/>
              <a:t> 서로의 다른 점을 존중하며 싸우지 않고 차이를 해결할 방법을 찾는 과정은 아이에게 훌륭한 인간관계의 본보기가 됨.</a:t>
            </a:r>
          </a:p>
          <a:p>
            <a:pPr lvl="0" indent="0" marL="0">
              <a:buNone/>
            </a:pPr>
            <a:r>
              <a:rPr b="1"/>
              <a:t>[기질 조화도 체크 시각화]</a:t>
            </a:r>
          </a:p>
          <a:p>
            <a:pPr lvl="0" indent="0">
              <a:buNone/>
            </a:pPr>
            <a:r>
              <a:rPr>
                <a:latin typeface="Courier"/>
              </a:rPr>
              <a:t>부모 기질(활동형) &lt;---(갈등지점)---&gt; 자녀 기질(정적형)
       ↑                                  ↑
  (기대치 낮추기)                   (활동 공간 마련)
       ╚═══════════════╦═══════════════╝
                [최적의 양육 조화]</a:t>
            </a:r>
          </a:p>
          <a:p>
            <a:pPr lvl="0" indent="0" marL="0">
              <a:buNone/>
            </a:pPr>
            <a:r>
              <a:rPr/>
              <a:t>(내용 추가: 기질은 좋고 나쁨이 없으며, 기질과 조화를 이루는 적절한 양육 행동이 아이 성장의 핵심 결과물임.)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[슬라이드 15] 재접근기 및 분노발발 대처 전략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16~24개월 재접근기의 양가감정에 대한 이해</a:t>
            </a:r>
            <a:r>
              <a:rPr/>
              <a:t> 독립적으로 행동하고 싶으면서도 부모의 위로를 간절히 원하는 모순된 감정 시기임을 알고 아이의 징징거림을 수용함,.</a:t>
            </a:r>
          </a:p>
          <a:p>
            <a:pPr lvl="0"/>
            <a:r>
              <a:rPr b="1"/>
              <a:t>감정 조절 미숙으로 인한 “분노발작”의 대응법</a:t>
            </a:r>
            <a:r>
              <a:rPr/>
              <a:t> 아이의 거센 표현에 겁먹고 요구를 즉시 들어주는 대신, 진정될 때까지 곁에서 기다려주며 안전하게 보호하는 것이 중요함.</a:t>
            </a:r>
          </a:p>
          <a:p>
            <a:pPr lvl="0"/>
            <a:r>
              <a:rPr b="1"/>
              <a:t>아이가 떼를 쓰는 상황과 패턴의 면밀한 관찰</a:t>
            </a:r>
            <a:r>
              <a:rPr/>
              <a:t> 졸음, 배고픔, 심심함 등 아이가 주로 떼를 부리는 환경을 파악하여 불필요한 마찰을 미리 방지하는 지혜를 발휘함.</a:t>
            </a:r>
          </a:p>
          <a:p>
            <a:pPr lvl="0"/>
            <a:r>
              <a:rPr b="1"/>
              <a:t>감정을 읽어주되 단호한 한계를 설정하는 훈육</a:t>
            </a:r>
            <a:r>
              <a:rPr/>
              <a:t> “화가 났구나”라고 감정은 공감해주되, 때리거나 던지는 행동은 “안 돼”라고 짧고 단호하게 제지하여 일관성을 유지함,.</a:t>
            </a:r>
          </a:p>
          <a:p>
            <a:pPr lvl="0"/>
            <a:r>
              <a:rPr b="1"/>
              <a:t>다양한 놀이를 통한 정서적 스트레스 해소 지원</a:t>
            </a:r>
            <a:r>
              <a:rPr/>
              <a:t> 마음대로 되지 않는 세상에 대한 좌절감을 엄마 아빠와의 즐거운 신체 및 인지 놀이로 풀어주어 정서적 회복을 도움.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상황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부모의 바람직한 반응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피해야 할 반응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바닥에 드러누울 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진정될 때까지 안전하게 대기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소리 지르거나 억지로 일으키기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물건을 던질 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던질 수 있는 공으로 유도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화내며 장난감 빼앗기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사람을 깨물 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“아파, 안 돼” 단호하게 말하기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웃으면서 장난으로 받아주기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[슬라이드 16] 연령별 맞춤 장난감 추천 (0~12개월)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시각과 청각을 자극하는 신생아기 흑백 장난감</a:t>
            </a:r>
            <a:r>
              <a:rPr/>
              <a:t> 명암이나 패턴에 반응하는 시기이므로 흑백 모빌과 초점책을 통해 시각 발달을 돕고, 딸랑이로 청각적 호기심을 자극함,.</a:t>
            </a:r>
          </a:p>
          <a:p>
            <a:pPr lvl="0"/>
            <a:r>
              <a:rPr b="1"/>
              <a:t>오감 탐색과 소근육 발달을 위한 헝ꊊ책과 치발기</a:t>
            </a:r>
            <a:r>
              <a:rPr/>
              <a:t> 물건을 입에 넣어 확인하는 시기이므로 세탁이 가능한 헝ꊊ책과 깨물어도 안전한 치발기를 제공하여 감각 경험을 넓힘,.</a:t>
            </a:r>
          </a:p>
          <a:p>
            <a:pPr lvl="0"/>
            <a:r>
              <a:rPr b="1"/>
              <a:t>척추 근육 강화와 대근육 발달을 돕는 터미타임 매트</a:t>
            </a:r>
            <a:r>
              <a:rPr/>
              <a:t> 엎드려 있는 시간을 즐겁게 만들어주는 매트와 거울을 활용하여 등과 목의 코어 근육을 단련하도록 유도함,.</a:t>
            </a:r>
          </a:p>
          <a:p>
            <a:pPr lvl="0"/>
            <a:r>
              <a:rPr b="1"/>
              <a:t>대상 영속성 발달을 지원하는 링 쌓기와 숨기기 장난감</a:t>
            </a:r>
            <a:r>
              <a:rPr/>
              <a:t> 물체가 사라졌다 나타나는 원리를 익힐 수 있는 링 쌓기나 컵 쌓기, 숨바꼭질이 가능한 장난감이 인지 발달에 효과적임,.</a:t>
            </a:r>
          </a:p>
          <a:p>
            <a:pPr lvl="0"/>
            <a:r>
              <a:rPr b="1"/>
              <a:t>손과 눈의 협응력을 높이는 공과 촉감 장난감</a:t>
            </a:r>
            <a:r>
              <a:rPr/>
              <a:t> 다양한 촉감의 공을 잡고 굴리며 손가락 미세 운동 능력을 키우고, 원인과 결과를 알 수 있는 사운드북을 활용함,.</a:t>
            </a:r>
          </a:p>
          <a:p>
            <a:pPr lvl="0" indent="0" marL="0">
              <a:buNone/>
            </a:pPr>
            <a:r>
              <a:rPr b="1"/>
              <a:t>[0~12개월 놀잇감 구성 시각화]</a:t>
            </a:r>
          </a:p>
          <a:p>
            <a:pPr lvl="0" indent="0">
              <a:buNone/>
            </a:pPr>
            <a:r>
              <a:rPr>
                <a:latin typeface="Courier"/>
              </a:rPr>
              <a:t>[시각: 흑백모빌] -&gt; [청각: 딸랑이] -&gt; [촉각: 헝ꊊ책] -&gt; [대근육: 놀이매트]
       ↓                ↓                ↓                ↓
   (100일 전후)      (3개월 이후)      (6개월 이후)     (터미타임용)</a:t>
            </a:r>
          </a:p>
          <a:p>
            <a:pPr lvl="0" indent="0" marL="0">
              <a:buNone/>
            </a:pPr>
            <a:r>
              <a:rPr/>
              <a:t>(참고: 공은 대표적인 열린 장난감으로 8개월 쯤 걸음마 연습 시 차며 놀 수 있음.)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[슬라이드 17] 연령별 맞춤 장난감 추천 (12~36개월)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언어와 상상력을 자극하는 역할놀이 세트</a:t>
            </a:r>
            <a:r>
              <a:rPr/>
              <a:t> 주방 놀이, 청소 도구 세트 등을 통해 부모의 행동을 모방하고 간단한 상황극을 수행하며 사회성과 언어 능력을 확장함,.</a:t>
            </a:r>
          </a:p>
          <a:p>
            <a:pPr lvl="0"/>
            <a:r>
              <a:rPr b="1"/>
              <a:t>정교한 소근육 조작을 돕는 퍼즐과 실꿰기 놀이</a:t>
            </a:r>
            <a:r>
              <a:rPr/>
              <a:t> 2~4조각의 간단한 퍼즐부터 블록 쌓기, 실꿰기 등을 통해 손가락의 미세 운동 능력과 집중력을 향상시키는 시기임,.</a:t>
            </a:r>
          </a:p>
          <a:p>
            <a:pPr lvl="0"/>
            <a:r>
              <a:rPr b="1"/>
              <a:t>신체 조절 능력을 키우는 공놀이와 승용 완구</a:t>
            </a:r>
            <a:r>
              <a:rPr/>
              <a:t> 공을 차고 던지는 활동과 더불어 스스로 방향을 조절할 수 있는 붕붕카나 세발자전거를 통해 대근육을 발달시킴,.</a:t>
            </a:r>
          </a:p>
          <a:p>
            <a:pPr lvl="0"/>
            <a:r>
              <a:rPr b="1"/>
              <a:t>창의적 표현을 지원하는 미술 용품과 클레이</a:t>
            </a:r>
            <a:r>
              <a:rPr/>
              <a:t> 안전 가위, 크레용, 찰흙 등을 제공하여 자유롭게 선을 긋고 형태를 만들며 성취감을 느끼고 정서를 표현하게 함,.</a:t>
            </a:r>
          </a:p>
          <a:p>
            <a:pPr lvl="0"/>
            <a:r>
              <a:rPr b="1"/>
              <a:t>수 개념과 분류 능력을 익히는 도형 맞추기 게임</a:t>
            </a:r>
            <a:r>
              <a:rPr/>
              <a:t> 모양, 색깔, 크기를 구분하여 분류하는 장난감을 통해 기초적인 수학적 사고와 논리적 인지 발달을 지원함,.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연령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추천 장난감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발달 목표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12~18개월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끌고 다니는 장난감, 링 쌓기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독립 보행 및 물체 조작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18~24개월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소꿉놀이, 인형, 블록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모방 놀이 및 상상력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24~36개월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퍼즐, 가위질, 세발자전거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소근육 정교화 및 신체 조절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[슬라이드 18] 가정 내 안전사고 예방과 월령별 수칙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가장 안전해야 할 집안에서 발생하는 높은 사고율</a:t>
            </a:r>
            <a:r>
              <a:rPr/>
              <a:t> 어린이 안전사고의 60% 이상이 가정 내에서 발생하므로, 부모는 아이의 눈높이에서 위험 요소를 상시 점검해야 함.</a:t>
            </a:r>
          </a:p>
          <a:p>
            <a:pPr lvl="0"/>
            <a:r>
              <a:rPr b="1"/>
              <a:t>0~6개월: 부주의에 의한 질식 및 추락 방지</a:t>
            </a:r>
            <a:r>
              <a:rPr/>
              <a:t> 너무 푹신한 이불을 지양하고, 수유 후 반드시 트림을 시키며 침대 난간을 항상 고정하여 질식과 추락을 예방함.</a:t>
            </a:r>
          </a:p>
          <a:p>
            <a:pPr lvl="0"/>
            <a:r>
              <a:rPr b="1"/>
              <a:t>7~12개월: 탐색기 영아를 위한 위험물 차단</a:t>
            </a:r>
            <a:r>
              <a:rPr/>
              <a:t> 콘센트 안전 덮개 설치, 식탁보 제거, 작은 물건 치우기 등을 통해 감전, 추락, 흡인 사고를 철저히 차단함.</a:t>
            </a:r>
          </a:p>
          <a:p>
            <a:pPr lvl="0"/>
            <a:r>
              <a:rPr b="1"/>
              <a:t>13~24개월: 보행 및 조작 능력 확대에 따른 화상 주의</a:t>
            </a:r>
            <a:r>
              <a:rPr/>
              <a:t> 정수기, 밥솥, 다리미 등 뜨거운 물건은 아이 손이 닿지 않는 곳에 두고 냄비 손잡이를 안쪽으로 돌려 화상을 방지함.</a:t>
            </a:r>
          </a:p>
          <a:p>
            <a:pPr lvl="0"/>
            <a:r>
              <a:rPr b="1"/>
              <a:t>25~36개월: 신체 조절 미숙에 의한 전도 사고 예방</a:t>
            </a:r>
            <a:r>
              <a:rPr/>
              <a:t> 아이 손에 닿는 곳에 약품이나 세제를 두지 않으며, 뛰다가 가구 모서리에 부딪히지 않도록 안전 보호대를 부착함,.</a:t>
            </a:r>
          </a:p>
          <a:p>
            <a:pPr lvl="0" indent="0" marL="0">
              <a:buNone/>
            </a:pPr>
            <a:r>
              <a:rPr b="1"/>
              <a:t>[가정 내 안전 사고 유형 및 대처 표]</a:t>
            </a:r>
            <a:r>
              <a:rPr/>
              <a:t> | 사고 유형 | 주요 위험 요소 | 예방 대책 | | :— | :— | :— | | 추락 | 침대, 소파, 베란다 창문 | 난간 설치 및 발판 제거 | | 질식 | 비닐봉지, 작은 장난감, 동전 | 아이 손이 닿지 않게 정리 | | 감전 | 전기 콘센트, 쇠 젓가락 | 콘센트 커버 씌우기 | | 화상 | 다리미, 전기밥솥, 뜨거운 냄비 | 안전한 거리 확보 및 차단 |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[슬라이드 19] 영유아 발달 지원 및 전문 의료 서비스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국가 영유아 건강검진을 통한 발달 이상 조기 선별</a:t>
            </a:r>
            <a:r>
              <a:rPr/>
              <a:t> 생후 14일부터 71개월까지 총 8회의 건강검진을 통해 성장 지연, 시각 및 청각 이상 등을 정기적으로 체크함.</a:t>
            </a:r>
          </a:p>
          <a:p>
            <a:pPr lvl="0"/>
            <a:r>
              <a:rPr b="1"/>
              <a:t>발달 정밀 검사비 지원 사업의 대상 및 절차 숙지</a:t>
            </a:r>
            <a:r>
              <a:rPr/>
              <a:t> 검진 결과 심화 평가 권고 판정을 받은 경우, 소득 기준에 따라 정밀 검사비를 지원받아 조기 개입의 기회를 마련함.</a:t>
            </a:r>
          </a:p>
          <a:p>
            <a:pPr lvl="0"/>
            <a:r>
              <a:rPr b="1"/>
              <a:t>전문 의료기관 방문을 통한 정확한 진단과 상담</a:t>
            </a:r>
            <a:r>
              <a:rPr/>
              <a:t> 발달 지연이 의심될 경우 소아정신건강의학과나 소아재활의학과 전문의가 있는 신뢰할 수 있는 병원을 방문함.</a:t>
            </a:r>
          </a:p>
          <a:p>
            <a:pPr lvl="0"/>
            <a:r>
              <a:rPr b="1"/>
              <a:t>육아종합지원센터를 통한 맞춤형 양육 지원 서비스</a:t>
            </a:r>
            <a:r>
              <a:rPr/>
              <a:t> 지역별 센터에서 제공하는 ‘보육맘’ 상담과 ’육아플래너’의 가정 방문 상담을 통해 양육 스트레스를 해소하고 전문 정보를 얻음,.</a:t>
            </a:r>
          </a:p>
          <a:p>
            <a:pPr lvl="0"/>
            <a:r>
              <a:rPr b="1"/>
              <a:t>우리아이발달지원단의 다영역 전문가 협력 지원</a:t>
            </a:r>
            <a:r>
              <a:rPr/>
              <a:t> 발달 검사뿐만 아니라 부모 코칭, 온라인 상담 등 다방면의 전문가들이 협력하여 아이의 건강한 성장을 통합적으로 돕는 시스템임,.</a:t>
            </a:r>
          </a:p>
          <a:p>
            <a:pPr lvl="0" indent="0" marL="0">
              <a:buNone/>
            </a:pPr>
            <a:r>
              <a:rPr b="1"/>
              <a:t>[발달 지원 서비스 이용 경로]</a:t>
            </a:r>
            <a:r>
              <a:rPr/>
              <a:t> 1. 영유아 건강검진 (보건소/병원). 2. 발달 정밀 검사 (전문 의료기관). 3. 재활 치료 바우처 신청 (행정복지센터). 4. 육아 상담 및 코칭 (육아종합지원센터).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[슬라이드 20] 긍정 양육의 완성: 실천과 성장의 여정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아이의 잘못이 아닌 발달의 미숙함을 이해하는 태도</a:t>
            </a:r>
            <a:r>
              <a:rPr/>
              <a:t> 부모를 괴롭히려는 의도가 아니라 단지 세상을 배우고 자주성을 키우려는 시도임을 인지하고 따뜻한 시선으로 아이를 바라봄,.</a:t>
            </a:r>
          </a:p>
          <a:p>
            <a:pPr lvl="0"/>
            <a:r>
              <a:rPr b="1"/>
              <a:t>장기적 목표를 나침반 삼아 단기적 갈등을 해결하기</a:t>
            </a:r>
            <a:r>
              <a:rPr/>
              <a:t> 지금 당장의 순응보다 아이가 성인이 되었을 때 갖기를 바라는 성품과 기술을 가르치는 기회로 현재의 문제를 활용함,.</a:t>
            </a:r>
          </a:p>
          <a:p>
            <a:pPr lvl="0"/>
            <a:r>
              <a:rPr b="1"/>
              <a:t>부모의 감정 조절이 훈육의 시작임을 명심하기</a:t>
            </a:r>
            <a:r>
              <a:rPr/>
              <a:t> 화가 났을 때는 잠시 자리를 피해 마음을 가라앉히고, 부모가 먼저 감정을 다스리는 모범을 보임으로써 아이에게 감정 조절법을 가르침,.</a:t>
            </a:r>
          </a:p>
          <a:p>
            <a:pPr lvl="0"/>
            <a:r>
              <a:rPr b="1"/>
              <a:t>완벽한 부모가 아닌 실수에서 배우며 성장하는 동반자</a:t>
            </a:r>
            <a:r>
              <a:rPr/>
              <a:t> 세상에 완벽한 부모는 없으므로 실수를 두려워하지 말고, 매 순간 긍정적인 양육의 원리를 적용하려 노력하며 아이와 함께 성장함.</a:t>
            </a:r>
          </a:p>
          <a:p>
            <a:pPr lvl="0"/>
            <a:r>
              <a:rPr b="1"/>
              <a:t>아이의 존엄성을 존중하는 비폭력 양육의 확산</a:t>
            </a:r>
            <a:r>
              <a:rPr/>
              <a:t> 아동 권리를 기반으로 한 긍정 훈육을 실천함으로써 아이의 자존감을 높이고, 상호 존중하는 행복한 가정 공동체를 만들어 나감,.</a:t>
            </a:r>
          </a:p>
          <a:p>
            <a:pPr lvl="0" indent="0" marL="0">
              <a:buNone/>
            </a:pPr>
            <a:r>
              <a:rPr b="1"/>
              <a:t>[긍정 양육 핵심 원리 요약 시각화]</a:t>
            </a:r>
          </a:p>
          <a:p>
            <a:pPr lvl="0" indent="0">
              <a:buNone/>
            </a:pPr>
            <a:r>
              <a:rPr>
                <a:latin typeface="Courier"/>
              </a:rPr>
              <a:t>      [ 장 기 적   목 표 ]
             ↑
   [ 따뜻함 ] + [ 구조화 ]
             ↑
   [ 아 이 의   관 점   이 해 ]
             ↑
      [ 문 제   해 결   능 력 ]</a:t>
            </a:r>
          </a:p>
          <a:p>
            <a:pPr lvl="0" indent="0" marL="0">
              <a:buNone/>
            </a:pPr>
            <a:r>
              <a:rPr/>
              <a:t>(마무리: 중요한 배움은 가장 어려운 상황에서 일어납니다. 모든 힘든 순간을 아이에게 평생의 선물을 줄 수 있는 기회로 삼으시기 바랍니다.)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2025-12-24T05:51:47Z</dcterms:created>
  <dcterms:modified xsi:type="dcterms:W3CDTF">2025-12-24T05:51:47Z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